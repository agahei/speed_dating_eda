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66" r:id="rId5"/>
    <p:sldId id="259" r:id="rId6"/>
    <p:sldId id="278" r:id="rId7"/>
    <p:sldId id="277" r:id="rId8"/>
    <p:sldId id="267" r:id="rId9"/>
    <p:sldId id="263" r:id="rId10"/>
    <p:sldId id="269" r:id="rId11"/>
    <p:sldId id="261" r:id="rId12"/>
    <p:sldId id="262" r:id="rId13"/>
  </p:sldIdLst>
  <p:sldSz cx="9144000" cy="5143500" type="screen16x9"/>
  <p:notesSz cx="6858000" cy="9144000"/>
  <p:embeddedFontLst>
    <p:embeddedFont>
      <p:font typeface="Inter" panose="020B0604020202020204" charset="0"/>
      <p:regular r:id="rId15"/>
      <p:bold r:id="rId16"/>
      <p:italic r:id="rId17"/>
      <p:boldItalic r:id="rId18"/>
    </p:embeddedFont>
    <p:embeddedFont>
      <p:font typeface="Inter Medium" panose="020B0604020202020204" charset="0"/>
      <p:regular r:id="rId19"/>
      <p:bold r:id="rId20"/>
      <p:italic r:id="rId21"/>
      <p:boldItalic r:id="rId22"/>
    </p:embeddedFont>
    <p:embeddedFont>
      <p:font typeface="Inter SemiBold" panose="020B0604020202020204" charset="0"/>
      <p:regular r:id="rId23"/>
      <p:bold r:id="rId24"/>
      <p:italic r:id="rId25"/>
      <p:boldItalic r:id="rId26"/>
    </p:embeddedFont>
    <p:embeddedFont>
      <p:font typeface="Libre Baskerville"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404" autoAdjust="0"/>
  </p:normalViewPr>
  <p:slideViewPr>
    <p:cSldViewPr snapToGrid="0">
      <p:cViewPr varScale="1">
        <p:scale>
          <a:sx n="87" d="100"/>
          <a:sy n="87" d="100"/>
        </p:scale>
        <p:origin x="704"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7af7a6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7af7a6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c3b886e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c3b886e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c3b886e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509ED30F-D5C5-F2E5-0F0D-EA2B9CAA5B42}"/>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ED1724A9-73AA-3C99-D0E7-C053813047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46951181-0883-5CA9-169E-F580B3F5A6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61932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f4f11f959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34CCBFC4-6EB1-1F52-7F9E-DCBA705CEAB1}"/>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155BF0E1-B053-0721-72AA-F8F6E564FD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A8CBA083-51D8-767B-A5FA-994E311ED3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2332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6EF377B-5DCC-608E-9889-D8EB1574DB44}"/>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F070DFC2-0FA9-AAD2-E01B-A9D382AE7A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01E04C70-6CA0-8EA0-C19E-36128CB04B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9590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D844353A-E0F5-A023-B1C9-419085574A06}"/>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1CAB6C14-9E7B-45A3-8E0C-622F7CF7C8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67ABA0BB-9C20-21AD-8A3C-7466BB98FF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61799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88697A0-B0A7-C461-69B7-31F205B5EAB4}"/>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F4D10084-4AE2-22D4-603B-73EC79EC93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51849818-76FE-C18D-4730-4553210D58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82691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B24EA8BE-02A1-A9CE-A3BF-C6073409B050}"/>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DBDED713-6153-59D3-89FE-C258073CA8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7352152E-6EB1-832D-4E9F-914B5EBF41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5206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f4f11f959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f4f11f959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7ed9f117a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7ed9f117a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gaHei/Speed_Dating_EDA"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588793" y="2653204"/>
            <a:ext cx="6866444" cy="617700"/>
          </a:xfrm>
          <a:prstGeom prst="rect">
            <a:avLst/>
          </a:prstGeom>
        </p:spPr>
        <p:txBody>
          <a:bodyPr spcFirstLastPara="1" wrap="square" lIns="91425" tIns="91425" rIns="91425" bIns="91425" anchor="b" anchorCtr="0">
            <a:noAutofit/>
          </a:bodyPr>
          <a:lstStyle/>
          <a:p>
            <a:pPr lvl="0" algn="l"/>
            <a:br>
              <a:rPr lang="fr-FR" sz="2800" dirty="0"/>
            </a:br>
            <a:r>
              <a:rPr lang="fr-FR" sz="2800" b="1" dirty="0"/>
              <a:t>Concepteur développeur en science des données</a:t>
            </a:r>
            <a:br>
              <a:rPr lang="fr-FR" sz="3200" b="1" dirty="0"/>
            </a:br>
            <a:br>
              <a:rPr lang="fr-FR" sz="3200" b="1" dirty="0"/>
            </a:br>
            <a:r>
              <a:rPr lang="fr-FR" sz="2400" b="1" dirty="0"/>
              <a:t>Machine Learning </a:t>
            </a:r>
            <a:r>
              <a:rPr lang="fr-FR" sz="2400" b="1" dirty="0" err="1"/>
              <a:t>Engineer</a:t>
            </a:r>
            <a:endParaRPr sz="2800" dirty="0">
              <a:solidFill>
                <a:srgbClr val="0E3449"/>
              </a:solidFill>
              <a:latin typeface="Inter SemiBold"/>
              <a:ea typeface="Inter SemiBold"/>
              <a:cs typeface="Inter SemiBold"/>
              <a:sym typeface="Inter SemiBold"/>
            </a:endParaRPr>
          </a:p>
        </p:txBody>
      </p:sp>
      <p:pic>
        <p:nvPicPr>
          <p:cNvPr id="55" name="Google Shape;55;p13"/>
          <p:cNvPicPr preferRelativeResize="0"/>
          <p:nvPr/>
        </p:nvPicPr>
        <p:blipFill>
          <a:blip r:embed="rId3">
            <a:alphaModFix/>
          </a:blip>
          <a:stretch>
            <a:fillRect/>
          </a:stretch>
        </p:blipFill>
        <p:spPr>
          <a:xfrm>
            <a:off x="4685550" y="2595750"/>
            <a:ext cx="3818450" cy="2547749"/>
          </a:xfrm>
          <a:prstGeom prst="rect">
            <a:avLst/>
          </a:prstGeom>
          <a:noFill/>
          <a:ln>
            <a:noFill/>
          </a:ln>
        </p:spPr>
      </p:pic>
      <p:pic>
        <p:nvPicPr>
          <p:cNvPr id="56" name="Google Shape;56;p13"/>
          <p:cNvPicPr preferRelativeResize="0"/>
          <p:nvPr/>
        </p:nvPicPr>
        <p:blipFill>
          <a:blip r:embed="rId4">
            <a:alphaModFix/>
          </a:blip>
          <a:stretch>
            <a:fillRect/>
          </a:stretch>
        </p:blipFill>
        <p:spPr>
          <a:xfrm>
            <a:off x="840550" y="787375"/>
            <a:ext cx="973275" cy="651050"/>
          </a:xfrm>
          <a:prstGeom prst="rect">
            <a:avLst/>
          </a:prstGeom>
          <a:noFill/>
          <a:ln>
            <a:noFill/>
          </a:ln>
        </p:spPr>
      </p:pic>
      <p:sp>
        <p:nvSpPr>
          <p:cNvPr id="57" name="Google Shape;57;p13"/>
          <p:cNvSpPr txBox="1">
            <a:spLocks noGrp="1"/>
          </p:cNvSpPr>
          <p:nvPr>
            <p:ph type="ctrTitle"/>
          </p:nvPr>
        </p:nvSpPr>
        <p:spPr>
          <a:xfrm>
            <a:off x="656506" y="3296226"/>
            <a:ext cx="4882075" cy="533100"/>
          </a:xfrm>
          <a:prstGeom prst="rect">
            <a:avLst/>
          </a:prstGeom>
        </p:spPr>
        <p:txBody>
          <a:bodyPr spcFirstLastPara="1" wrap="square" lIns="91425" tIns="91425" rIns="91425" bIns="91425" anchor="b" anchorCtr="0">
            <a:noAutofit/>
          </a:bodyPr>
          <a:lstStyle/>
          <a:p>
            <a:pPr algn="l"/>
            <a:r>
              <a:rPr lang="fr-FR" sz="2400" b="1" dirty="0">
                <a:solidFill>
                  <a:srgbClr val="FFFF00"/>
                </a:solidFill>
              </a:rPr>
              <a:t>Bloc 2</a:t>
            </a:r>
          </a:p>
        </p:txBody>
      </p:sp>
      <p:sp>
        <p:nvSpPr>
          <p:cNvPr id="2" name="Google Shape;57;p13">
            <a:extLst>
              <a:ext uri="{FF2B5EF4-FFF2-40B4-BE49-F238E27FC236}">
                <a16:creationId xmlns:a16="http://schemas.microsoft.com/office/drawing/2014/main" id="{E566AFD2-6FFA-E7E1-09F0-4B4FEF7327BA}"/>
              </a:ext>
            </a:extLst>
          </p:cNvPr>
          <p:cNvSpPr txBox="1">
            <a:spLocks/>
          </p:cNvSpPr>
          <p:nvPr/>
        </p:nvSpPr>
        <p:spPr>
          <a:xfrm>
            <a:off x="682110" y="3854648"/>
            <a:ext cx="5315100" cy="533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l"/>
            <a:r>
              <a:rPr lang="en-US" sz="1600" dirty="0" err="1"/>
              <a:t>Préparé</a:t>
            </a:r>
            <a:r>
              <a:rPr lang="en-US" sz="1600" dirty="0"/>
              <a:t> par Agnès HEIJLIGERS</a:t>
            </a:r>
            <a:endParaRPr lang="en-US" sz="1600" dirty="0">
              <a:solidFill>
                <a:schemeClr val="lt1"/>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4FF"/>
        </a:solidFill>
        <a:effectLst/>
      </p:bgPr>
    </p:bg>
    <p:spTree>
      <p:nvGrpSpPr>
        <p:cNvPr id="1" name="Shape 61"/>
        <p:cNvGrpSpPr/>
        <p:nvPr/>
      </p:nvGrpSpPr>
      <p:grpSpPr>
        <a:xfrm>
          <a:off x="0" y="0"/>
          <a:ext cx="0" cy="0"/>
          <a:chOff x="0" y="0"/>
          <a:chExt cx="0" cy="0"/>
        </a:xfrm>
      </p:grpSpPr>
      <p:sp>
        <p:nvSpPr>
          <p:cNvPr id="62" name="Google Shape;62;p14"/>
          <p:cNvSpPr txBox="1">
            <a:spLocks noGrp="1"/>
          </p:cNvSpPr>
          <p:nvPr>
            <p:ph type="ctrTitle" idx="4294967295"/>
          </p:nvPr>
        </p:nvSpPr>
        <p:spPr>
          <a:xfrm>
            <a:off x="463375" y="1417456"/>
            <a:ext cx="7682601" cy="3082257"/>
          </a:xfrm>
          <a:prstGeom prst="rect">
            <a:avLst/>
          </a:prstGeom>
        </p:spPr>
        <p:txBody>
          <a:bodyPr spcFirstLastPara="1" wrap="square" lIns="91425" tIns="91425" rIns="91425" bIns="91425" anchor="t" anchorCtr="0">
            <a:noAutofit/>
          </a:bodyPr>
          <a:lstStyle/>
          <a:p>
            <a:pPr lvl="0"/>
            <a:r>
              <a:rPr lang="fr" dirty="0">
                <a:solidFill>
                  <a:srgbClr val="0E3449"/>
                </a:solidFill>
                <a:latin typeface="Inter SemiBold"/>
                <a:ea typeface="Inter SemiBold"/>
                <a:cs typeface="Inter SemiBold"/>
                <a:sym typeface="Inter SemiBold"/>
              </a:rPr>
              <a:t>Project TINDER </a:t>
            </a:r>
            <a:br>
              <a:rPr lang="fr" dirty="0">
                <a:solidFill>
                  <a:srgbClr val="0E3449"/>
                </a:solidFill>
                <a:latin typeface="Inter SemiBold"/>
                <a:ea typeface="Inter SemiBold"/>
                <a:cs typeface="Inter SemiBold"/>
                <a:sym typeface="Inter SemiBold"/>
              </a:rPr>
            </a:br>
            <a:br>
              <a:rPr lang="fr" dirty="0">
                <a:solidFill>
                  <a:srgbClr val="0E3449"/>
                </a:solidFill>
                <a:latin typeface="Inter SemiBold"/>
                <a:ea typeface="Inter SemiBold"/>
                <a:cs typeface="Inter SemiBold"/>
                <a:sym typeface="Inter SemiBold"/>
              </a:rPr>
            </a:br>
            <a:r>
              <a:rPr lang="fr-FR" dirty="0"/>
              <a:t>Analyse exploratoire, descriptive et inférentielle de données</a:t>
            </a:r>
            <a:br>
              <a:rPr lang="fr-FR" dirty="0"/>
            </a:br>
            <a:br>
              <a:rPr lang="fr-FR" dirty="0"/>
            </a:br>
            <a:r>
              <a:rPr lang="fr-FR" sz="2000" dirty="0"/>
              <a:t>Lien vers le dépôt </a:t>
            </a:r>
            <a:r>
              <a:rPr lang="fr-FR" sz="2000" dirty="0" err="1"/>
              <a:t>Github</a:t>
            </a:r>
            <a:r>
              <a:rPr lang="fr-FR" sz="2000" dirty="0"/>
              <a:t>: </a:t>
            </a:r>
            <a:r>
              <a:rPr lang="fr-FR" sz="2000" dirty="0">
                <a:hlinkClick r:id="rId3"/>
              </a:rPr>
              <a:t>https://github.com/AgaHei/Speed_Dating_EDA</a:t>
            </a:r>
            <a:r>
              <a:rPr lang="fr-FR" sz="2000" dirty="0"/>
              <a:t> </a:t>
            </a:r>
            <a:br>
              <a:rPr lang="fr" sz="3600" dirty="0">
                <a:solidFill>
                  <a:srgbClr val="0E3449"/>
                </a:solidFill>
                <a:latin typeface="Inter SemiBold"/>
                <a:ea typeface="Inter SemiBold"/>
                <a:cs typeface="Inter SemiBold"/>
                <a:sym typeface="Inter SemiBold"/>
              </a:rPr>
            </a:br>
            <a:br>
              <a:rPr lang="fr" sz="3600" dirty="0">
                <a:solidFill>
                  <a:srgbClr val="0E3449"/>
                </a:solidFill>
                <a:latin typeface="Inter SemiBold"/>
                <a:ea typeface="Inter SemiBold"/>
                <a:cs typeface="Inter SemiBold"/>
                <a:sym typeface="Inter SemiBold"/>
              </a:rPr>
            </a:br>
            <a:br>
              <a:rPr lang="fr" sz="3600" dirty="0">
                <a:solidFill>
                  <a:srgbClr val="0E3449"/>
                </a:solidFill>
                <a:latin typeface="Inter SemiBold"/>
                <a:ea typeface="Inter SemiBold"/>
                <a:cs typeface="Inter SemiBold"/>
                <a:sym typeface="Inter SemiBold"/>
              </a:rPr>
            </a:br>
            <a:br>
              <a:rPr lang="fr" sz="4800" dirty="0">
                <a:solidFill>
                  <a:srgbClr val="0E3449"/>
                </a:solidFill>
                <a:latin typeface="Inter SemiBold"/>
                <a:ea typeface="Inter SemiBold"/>
                <a:cs typeface="Inter SemiBold"/>
                <a:sym typeface="Inter SemiBold"/>
              </a:rPr>
            </a:br>
            <a:br>
              <a:rPr lang="en-US" sz="4800" dirty="0">
                <a:solidFill>
                  <a:schemeClr val="lt1"/>
                </a:solidFill>
                <a:latin typeface="Inter Medium"/>
                <a:ea typeface="Inter Medium"/>
                <a:cs typeface="Inter Medium"/>
                <a:sym typeface="Inter Medium"/>
              </a:rPr>
            </a:br>
            <a:endParaRPr sz="4500" b="1" dirty="0">
              <a:solidFill>
                <a:srgbClr val="0E3449"/>
              </a:solidFill>
              <a:latin typeface="Inter"/>
              <a:ea typeface="Inter"/>
              <a:cs typeface="Inter"/>
              <a:sym typeface="Inter"/>
            </a:endParaRPr>
          </a:p>
        </p:txBody>
      </p:sp>
      <p:pic>
        <p:nvPicPr>
          <p:cNvPr id="63" name="Google Shape;63;p14"/>
          <p:cNvPicPr preferRelativeResize="0"/>
          <p:nvPr/>
        </p:nvPicPr>
        <p:blipFill>
          <a:blip r:embed="rId4">
            <a:alphaModFix/>
          </a:blip>
          <a:stretch>
            <a:fillRect/>
          </a:stretch>
        </p:blipFill>
        <p:spPr>
          <a:xfrm>
            <a:off x="463375" y="482852"/>
            <a:ext cx="576900" cy="385904"/>
          </a:xfrm>
          <a:prstGeom prst="rect">
            <a:avLst/>
          </a:prstGeom>
          <a:noFill/>
          <a:ln>
            <a:noFill/>
          </a:ln>
        </p:spPr>
      </p:pic>
      <p:pic>
        <p:nvPicPr>
          <p:cNvPr id="1026" name="Picture 2">
            <a:extLst>
              <a:ext uri="{FF2B5EF4-FFF2-40B4-BE49-F238E27FC236}">
                <a16:creationId xmlns:a16="http://schemas.microsoft.com/office/drawing/2014/main" id="{D795288C-70D8-98C7-75F3-68312F33CF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2928" y="256032"/>
            <a:ext cx="3524299" cy="19824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1040275" y="389454"/>
            <a:ext cx="8520600" cy="572700"/>
          </a:xfrm>
          <a:prstGeom prst="rect">
            <a:avLst/>
          </a:prstGeom>
        </p:spPr>
        <p:txBody>
          <a:bodyPr spcFirstLastPara="1" wrap="square" lIns="91425" tIns="91425" rIns="91425" bIns="91425" anchor="t" anchorCtr="0">
            <a:noAutofit/>
          </a:bodyPr>
          <a:lstStyle/>
          <a:p>
            <a:pPr lvl="0"/>
            <a:r>
              <a:rPr lang="fr-FR" sz="2400" b="1" dirty="0"/>
              <a:t>Objectif du projet</a:t>
            </a:r>
            <a:endParaRPr sz="2500" b="1" dirty="0">
              <a:solidFill>
                <a:srgbClr val="0E3449"/>
              </a:solidFill>
              <a:latin typeface="Inter SemiBold"/>
              <a:ea typeface="Inter SemiBold"/>
              <a:cs typeface="Inter SemiBold"/>
              <a:sym typeface="Inter SemiBold"/>
            </a:endParaRPr>
          </a:p>
        </p:txBody>
      </p:sp>
      <p:sp>
        <p:nvSpPr>
          <p:cNvPr id="2" name="Espace réservé du texte 1">
            <a:extLst>
              <a:ext uri="{FF2B5EF4-FFF2-40B4-BE49-F238E27FC236}">
                <a16:creationId xmlns:a16="http://schemas.microsoft.com/office/drawing/2014/main" id="{8017FA96-217C-8435-60E3-8BA248D4E19C}"/>
              </a:ext>
            </a:extLst>
          </p:cNvPr>
          <p:cNvSpPr>
            <a:spLocks noGrp="1"/>
          </p:cNvSpPr>
          <p:nvPr>
            <p:ph type="body" idx="1"/>
          </p:nvPr>
        </p:nvSpPr>
        <p:spPr>
          <a:xfrm>
            <a:off x="197568" y="1955049"/>
            <a:ext cx="8520600" cy="2099462"/>
          </a:xfrm>
        </p:spPr>
        <p:txBody>
          <a:bodyPr/>
          <a:lstStyle/>
          <a:p>
            <a:pPr marL="114300" indent="0" algn="just">
              <a:buNone/>
            </a:pPr>
            <a:r>
              <a:rPr lang="fr-FR" sz="2000" noProof="0" dirty="0">
                <a:solidFill>
                  <a:schemeClr val="tx1"/>
                </a:solidFill>
              </a:rPr>
              <a:t>Explorer les modèles comportementaux et les préférences des participants des évènements de speed dating documentés dans le jeu de données en utilisant des visualisations et des résumés statistiques pour découvrir et comprendre ce qui conduit à un attrait, une connexion et un intérêt entre deux participants. </a:t>
            </a:r>
            <a:endParaRPr lang="fr-FR" sz="2000" b="1" noProof="0" dirty="0">
              <a:solidFill>
                <a:schemeClr val="tx1"/>
              </a:solidFill>
            </a:endParaRPr>
          </a:p>
          <a:p>
            <a:pPr marL="114300" indent="0" algn="ctr">
              <a:buNone/>
            </a:pPr>
            <a:endParaRPr lang="fr-FR" sz="2800" b="1" dirty="0"/>
          </a:p>
          <a:p>
            <a:pPr marL="114300" indent="0" algn="ctr">
              <a:buNone/>
            </a:pPr>
            <a:endParaRPr lang="en-US" sz="2000" b="1" dirty="0">
              <a:solidFill>
                <a:schemeClr val="tx1"/>
              </a:solidFill>
            </a:endParaRPr>
          </a:p>
        </p:txBody>
      </p:sp>
      <p:pic>
        <p:nvPicPr>
          <p:cNvPr id="75" name="Google Shape;75;p15"/>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Image 7" descr="Mr. Feels surpris">
            <a:extLst>
              <a:ext uri="{FF2B5EF4-FFF2-40B4-BE49-F238E27FC236}">
                <a16:creationId xmlns:a16="http://schemas.microsoft.com/office/drawing/2014/main" id="{B9C1D0AC-DB04-40A2-3DB0-5975F9608478}"/>
              </a:ext>
            </a:extLst>
          </p:cNvPr>
          <p:cNvPicPr>
            <a:picLocks noChangeAspect="1"/>
          </p:cNvPicPr>
          <p:nvPr/>
        </p:nvPicPr>
        <p:blipFill>
          <a:blip r:embed="rId4"/>
          <a:stretch>
            <a:fillRect/>
          </a:stretch>
        </p:blipFill>
        <p:spPr>
          <a:xfrm>
            <a:off x="6630771" y="247102"/>
            <a:ext cx="1740865" cy="17408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a:extLst>
            <a:ext uri="{FF2B5EF4-FFF2-40B4-BE49-F238E27FC236}">
              <a16:creationId xmlns:a16="http://schemas.microsoft.com/office/drawing/2014/main" id="{F1F8D49C-1EC1-1D25-AE6E-CED56B30C110}"/>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954A48BC-6B15-0C09-937B-63F8812D4C74}"/>
              </a:ext>
            </a:extLst>
          </p:cNvPr>
          <p:cNvSpPr/>
          <p:nvPr/>
        </p:nvSpPr>
        <p:spPr>
          <a:xfrm>
            <a:off x="5500" y="-17775"/>
            <a:ext cx="3691106"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B149ED72-B4FE-2A36-81FB-F0E547E3346F}"/>
              </a:ext>
            </a:extLst>
          </p:cNvPr>
          <p:cNvSpPr txBox="1">
            <a:spLocks noGrp="1"/>
          </p:cNvSpPr>
          <p:nvPr>
            <p:ph type="title"/>
          </p:nvPr>
        </p:nvSpPr>
        <p:spPr>
          <a:xfrm>
            <a:off x="292773" y="916018"/>
            <a:ext cx="3306007" cy="1677676"/>
          </a:xfrm>
          <a:prstGeom prst="rect">
            <a:avLst/>
          </a:prstGeom>
          <a:noFill/>
          <a:ln>
            <a:noFill/>
          </a:ln>
        </p:spPr>
        <p:txBody>
          <a:bodyPr spcFirstLastPara="1" wrap="square" lIns="91425" tIns="91425" rIns="91425" bIns="91425" anchor="t" anchorCtr="0">
            <a:noAutofit/>
          </a:bodyPr>
          <a:lstStyle/>
          <a:p>
            <a:r>
              <a:rPr lang="fr-FR" b="1" dirty="0"/>
              <a:t>Comprendre et traiter les données</a:t>
            </a:r>
            <a:br>
              <a:rPr lang="fr-FR" b="1" dirty="0"/>
            </a:br>
            <a:br>
              <a:rPr lang="fr-FR" b="1" dirty="0"/>
            </a:br>
            <a:br>
              <a:rPr lang="en-US" dirty="0"/>
            </a:br>
            <a:br>
              <a:rPr lang="en-US" dirty="0"/>
            </a:br>
            <a:br>
              <a:rPr lang="en-US" dirty="0"/>
            </a:br>
            <a:br>
              <a:rPr lang="fr" sz="2400" dirty="0">
                <a:solidFill>
                  <a:srgbClr val="015955"/>
                </a:solidFill>
                <a:latin typeface="Inter"/>
                <a:ea typeface="Inter"/>
                <a:cs typeface="Inter"/>
                <a:sym typeface="Inter"/>
              </a:rPr>
            </a:br>
            <a:br>
              <a:rPr lang="fr" sz="2400" dirty="0">
                <a:solidFill>
                  <a:srgbClr val="015955"/>
                </a:solidFill>
                <a:latin typeface="Inter"/>
                <a:ea typeface="Inter"/>
                <a:cs typeface="Inter"/>
                <a:sym typeface="Inter"/>
              </a:rPr>
            </a:br>
            <a:endParaRPr sz="2400" dirty="0">
              <a:solidFill>
                <a:srgbClr val="015955"/>
              </a:solidFill>
              <a:latin typeface="Inter"/>
              <a:ea typeface="Inter"/>
              <a:cs typeface="Inter"/>
              <a:sym typeface="Inter"/>
            </a:endParaRPr>
          </a:p>
        </p:txBody>
      </p:sp>
      <p:pic>
        <p:nvPicPr>
          <p:cNvPr id="83" name="Google Shape;83;p16">
            <a:extLst>
              <a:ext uri="{FF2B5EF4-FFF2-40B4-BE49-F238E27FC236}">
                <a16:creationId xmlns:a16="http://schemas.microsoft.com/office/drawing/2014/main" id="{AD261BDA-AFBC-DD18-E736-35920AD9B2E3}"/>
              </a:ext>
            </a:extLst>
          </p:cNvPr>
          <p:cNvPicPr preferRelativeResize="0"/>
          <p:nvPr/>
        </p:nvPicPr>
        <p:blipFill rotWithShape="1">
          <a:blip r:embed="rId3">
            <a:alphaModFix/>
          </a:blip>
          <a:srcRect/>
          <a:stretch/>
        </p:blipFill>
        <p:spPr>
          <a:xfrm>
            <a:off x="463375" y="482852"/>
            <a:ext cx="576900" cy="385904"/>
          </a:xfrm>
          <a:prstGeom prst="rect">
            <a:avLst/>
          </a:prstGeom>
          <a:noFill/>
          <a:ln>
            <a:noFill/>
          </a:ln>
        </p:spPr>
      </p:pic>
      <p:sp>
        <p:nvSpPr>
          <p:cNvPr id="84" name="Google Shape;84;p16">
            <a:extLst>
              <a:ext uri="{FF2B5EF4-FFF2-40B4-BE49-F238E27FC236}">
                <a16:creationId xmlns:a16="http://schemas.microsoft.com/office/drawing/2014/main" id="{34F93893-BC1E-A346-21ED-A882A1DDBD8F}"/>
              </a:ext>
            </a:extLst>
          </p:cNvPr>
          <p:cNvSpPr txBox="1">
            <a:spLocks noGrp="1"/>
          </p:cNvSpPr>
          <p:nvPr>
            <p:ph type="ctrTitle" idx="4294967295"/>
          </p:nvPr>
        </p:nvSpPr>
        <p:spPr>
          <a:xfrm>
            <a:off x="3832987" y="211338"/>
            <a:ext cx="5210872" cy="4720823"/>
          </a:xfrm>
          <a:prstGeom prst="rect">
            <a:avLst/>
          </a:prstGeom>
          <a:noFill/>
          <a:ln>
            <a:noFill/>
          </a:ln>
        </p:spPr>
        <p:txBody>
          <a:bodyPr spcFirstLastPara="1" wrap="square" lIns="91425" tIns="91425" rIns="91425" bIns="91425" anchor="t" anchorCtr="0">
            <a:noAutofit/>
          </a:bodyPr>
          <a:lstStyle/>
          <a:p>
            <a:r>
              <a:rPr lang="fr-FR" sz="2000" b="1" noProof="0" dirty="0">
                <a:solidFill>
                  <a:schemeClr val="tx1"/>
                </a:solidFill>
              </a:rPr>
              <a:t>Jeu de données initial:</a:t>
            </a:r>
            <a:r>
              <a:rPr lang="fr-FR" sz="2000" noProof="0" dirty="0">
                <a:solidFill>
                  <a:schemeClr val="tx1"/>
                </a:solidFill>
              </a:rPr>
              <a:t> 8,378 interactions des évènements de speed‑dating (2002–2004) </a:t>
            </a:r>
            <a:br>
              <a:rPr lang="fr-FR" sz="2000" noProof="0" dirty="0">
                <a:solidFill>
                  <a:schemeClr val="tx1"/>
                </a:solidFill>
              </a:rPr>
            </a:br>
            <a:br>
              <a:rPr lang="fr-FR" sz="2000" noProof="0" dirty="0"/>
            </a:br>
            <a:r>
              <a:rPr lang="fr-FR" sz="2000" noProof="0" dirty="0"/>
              <a:t>Suppression des colonnes avec majorité de valeurs manquantes</a:t>
            </a:r>
            <a:br>
              <a:rPr lang="fr-FR" sz="2000" noProof="0" dirty="0"/>
            </a:br>
            <a:br>
              <a:rPr lang="fr-FR" sz="2000" noProof="0" dirty="0"/>
            </a:br>
            <a:r>
              <a:rPr lang="fr-FR" sz="2000" noProof="0" dirty="0"/>
              <a:t>Focus sur:</a:t>
            </a:r>
            <a:br>
              <a:rPr lang="fr-FR" sz="2000" noProof="0" dirty="0"/>
            </a:br>
            <a:r>
              <a:rPr lang="fr-FR" sz="2000" noProof="0" dirty="0"/>
              <a:t> - Auto-évaluations</a:t>
            </a:r>
            <a:br>
              <a:rPr lang="fr-FR" sz="2000" noProof="0" dirty="0"/>
            </a:br>
            <a:r>
              <a:rPr lang="fr-FR" sz="2000" noProof="0" dirty="0"/>
              <a:t> - Evaluations des partenaires</a:t>
            </a:r>
            <a:br>
              <a:rPr lang="fr-FR" sz="2000" noProof="0" dirty="0"/>
            </a:br>
            <a:r>
              <a:rPr lang="fr-FR" sz="2000" noProof="0" dirty="0"/>
              <a:t> - Préférences</a:t>
            </a:r>
            <a:br>
              <a:rPr lang="fr-FR" sz="2000" noProof="0" dirty="0"/>
            </a:br>
            <a:r>
              <a:rPr lang="fr-FR" sz="2000" noProof="0" dirty="0"/>
              <a:t> - Résultats des ‘match’ (connexions)</a:t>
            </a:r>
            <a:br>
              <a:rPr lang="fr-FR" sz="2000" noProof="0" dirty="0"/>
            </a:br>
            <a:br>
              <a:rPr lang="fr-FR" sz="2000" noProof="0" dirty="0"/>
            </a:br>
            <a:r>
              <a:rPr lang="fr-FR" sz="2000" noProof="0" dirty="0"/>
              <a:t>Jeu de données final pour analyse: </a:t>
            </a:r>
            <a:r>
              <a:rPr lang="fr-FR" sz="2000" b="1" noProof="0" dirty="0"/>
              <a:t>162 variables explicatives</a:t>
            </a:r>
            <a:br>
              <a:rPr lang="fr-FR" sz="2000" noProof="0" dirty="0"/>
            </a:br>
            <a:br>
              <a:rPr lang="fr-FR" noProof="0" dirty="0"/>
            </a:br>
            <a:endParaRPr lang="fr-FR" noProof="0" dirty="0"/>
          </a:p>
        </p:txBody>
      </p:sp>
      <p:pic>
        <p:nvPicPr>
          <p:cNvPr id="3" name="Picture 14" descr="[Python] EDA를 위한 numpy &amp; pandas 기초">
            <a:extLst>
              <a:ext uri="{FF2B5EF4-FFF2-40B4-BE49-F238E27FC236}">
                <a16:creationId xmlns:a16="http://schemas.microsoft.com/office/drawing/2014/main" id="{82F400AB-CC62-203C-CE1D-6B969DF16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640" y="2593694"/>
            <a:ext cx="1925689" cy="10029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6" descr="overview of Python">
            <a:extLst>
              <a:ext uri="{FF2B5EF4-FFF2-40B4-BE49-F238E27FC236}">
                <a16:creationId xmlns:a16="http://schemas.microsoft.com/office/drawing/2014/main" id="{70964E52-3AFF-2ADB-F886-7F5DC512EA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9471" y="4008290"/>
            <a:ext cx="972531" cy="97253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reating a Bar Chart in Seaborn, Plotly, and Matplotlib | Data Science ...">
            <a:extLst>
              <a:ext uri="{FF2B5EF4-FFF2-40B4-BE49-F238E27FC236}">
                <a16:creationId xmlns:a16="http://schemas.microsoft.com/office/drawing/2014/main" id="{DF012A52-AC5B-10B5-C8AA-93A8C9D6F6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640" y="3763336"/>
            <a:ext cx="1631137" cy="1217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209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p:nvPr/>
        </p:nvSpPr>
        <p:spPr>
          <a:xfrm>
            <a:off x="5500" y="-17775"/>
            <a:ext cx="3463423"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21908" y="1202548"/>
            <a:ext cx="2594444" cy="1006642"/>
          </a:xfrm>
          <a:prstGeom prst="rect">
            <a:avLst/>
          </a:prstGeom>
          <a:noFill/>
          <a:ln>
            <a:noFill/>
          </a:ln>
        </p:spPr>
        <p:txBody>
          <a:bodyPr spcFirstLastPara="1" wrap="square" lIns="91425" tIns="91425" rIns="91425" bIns="91425" anchor="t" anchorCtr="0">
            <a:noAutofit/>
          </a:bodyPr>
          <a:lstStyle/>
          <a:p>
            <a:pPr lvl="0"/>
            <a:r>
              <a:rPr lang="fr-FR" sz="2400" b="1" dirty="0"/>
              <a:t>Qui sont les participants?</a:t>
            </a:r>
            <a:br>
              <a:rPr lang="fr" sz="2400" dirty="0">
                <a:solidFill>
                  <a:srgbClr val="015955"/>
                </a:solidFill>
                <a:latin typeface="Inter"/>
                <a:ea typeface="Inter"/>
                <a:cs typeface="Inter"/>
                <a:sym typeface="Inter"/>
              </a:rPr>
            </a:br>
            <a:br>
              <a:rPr lang="fr" sz="2400" dirty="0">
                <a:solidFill>
                  <a:srgbClr val="015955"/>
                </a:solidFill>
                <a:latin typeface="Inter"/>
                <a:ea typeface="Inter"/>
                <a:cs typeface="Inter"/>
                <a:sym typeface="Inter"/>
              </a:rPr>
            </a:br>
            <a:endParaRPr sz="2400" dirty="0">
              <a:solidFill>
                <a:srgbClr val="015955"/>
              </a:solidFill>
              <a:latin typeface="Inter"/>
              <a:ea typeface="Inter"/>
              <a:cs typeface="Inter"/>
              <a:sym typeface="Inter"/>
            </a:endParaRPr>
          </a:p>
        </p:txBody>
      </p:sp>
      <p:pic>
        <p:nvPicPr>
          <p:cNvPr id="83" name="Google Shape;83;p16"/>
          <p:cNvPicPr preferRelativeResize="0"/>
          <p:nvPr/>
        </p:nvPicPr>
        <p:blipFill rotWithShape="1">
          <a:blip r:embed="rId3">
            <a:alphaModFix/>
          </a:blip>
          <a:srcRect/>
          <a:stretch/>
        </p:blipFill>
        <p:spPr>
          <a:xfrm>
            <a:off x="463375" y="482852"/>
            <a:ext cx="576900" cy="385904"/>
          </a:xfrm>
          <a:prstGeom prst="rect">
            <a:avLst/>
          </a:prstGeom>
          <a:noFill/>
          <a:ln>
            <a:noFill/>
          </a:ln>
        </p:spPr>
      </p:pic>
      <p:sp>
        <p:nvSpPr>
          <p:cNvPr id="84" name="Google Shape;84;p16"/>
          <p:cNvSpPr txBox="1">
            <a:spLocks noGrp="1"/>
          </p:cNvSpPr>
          <p:nvPr>
            <p:ph type="ctrTitle" idx="4294967295"/>
          </p:nvPr>
        </p:nvSpPr>
        <p:spPr>
          <a:xfrm>
            <a:off x="3925833" y="605285"/>
            <a:ext cx="5056796" cy="3827230"/>
          </a:xfrm>
          <a:prstGeom prst="rect">
            <a:avLst/>
          </a:prstGeom>
          <a:noFill/>
          <a:ln>
            <a:noFill/>
          </a:ln>
        </p:spPr>
        <p:txBody>
          <a:bodyPr spcFirstLastPara="1" wrap="square" lIns="91425" tIns="91425" rIns="91425" bIns="91425" anchor="t" anchorCtr="0">
            <a:noAutofit/>
          </a:bodyPr>
          <a:lstStyle/>
          <a:p>
            <a:br>
              <a:rPr lang="en-US" sz="1400" dirty="0"/>
            </a:br>
            <a:br>
              <a:rPr lang="en-US" sz="1400" dirty="0"/>
            </a:br>
            <a:br>
              <a:rPr lang="en-US" sz="1400" dirty="0"/>
            </a:br>
            <a:br>
              <a:rPr lang="fr-FR" sz="1400" dirty="0"/>
            </a:br>
            <a:endParaRPr lang="en-US" sz="1400" dirty="0"/>
          </a:p>
        </p:txBody>
      </p:sp>
      <p:pic>
        <p:nvPicPr>
          <p:cNvPr id="11266" name="Picture 2">
            <a:extLst>
              <a:ext uri="{FF2B5EF4-FFF2-40B4-BE49-F238E27FC236}">
                <a16:creationId xmlns:a16="http://schemas.microsoft.com/office/drawing/2014/main" id="{7D89E6A2-4E9C-22C1-E986-073A61B226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8923" y="457310"/>
            <a:ext cx="2906661" cy="1932269"/>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3F853EDC-40F1-A17B-8BCA-D11BCA404E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0878" y="457310"/>
            <a:ext cx="2551751" cy="1993006"/>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58446157-CD12-ADAE-DC57-A866244B5D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4761" y="2717955"/>
            <a:ext cx="3668945" cy="21775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F7C3CFCB-4797-5E85-4A7D-60F008FF250C}"/>
              </a:ext>
            </a:extLst>
          </p:cNvPr>
          <p:cNvPicPr>
            <a:picLocks noChangeAspect="1"/>
          </p:cNvPicPr>
          <p:nvPr/>
        </p:nvPicPr>
        <p:blipFill>
          <a:blip r:embed="rId7"/>
          <a:stretch>
            <a:fillRect/>
          </a:stretch>
        </p:blipFill>
        <p:spPr>
          <a:xfrm>
            <a:off x="564990" y="2717955"/>
            <a:ext cx="2344441" cy="16484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a:extLst>
            <a:ext uri="{FF2B5EF4-FFF2-40B4-BE49-F238E27FC236}">
              <a16:creationId xmlns:a16="http://schemas.microsoft.com/office/drawing/2014/main" id="{EF8F7F97-14D2-4E8E-A8E6-CD4CAC1BA394}"/>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4D668ACF-9333-5BEA-4A55-9947009D6BE5}"/>
              </a:ext>
            </a:extLst>
          </p:cNvPr>
          <p:cNvSpPr/>
          <p:nvPr/>
        </p:nvSpPr>
        <p:spPr>
          <a:xfrm>
            <a:off x="5500" y="-17775"/>
            <a:ext cx="3691106"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AB31C7DD-2563-2C4E-4B6D-1459CA080E5D}"/>
              </a:ext>
            </a:extLst>
          </p:cNvPr>
          <p:cNvSpPr txBox="1">
            <a:spLocks noGrp="1"/>
          </p:cNvSpPr>
          <p:nvPr>
            <p:ph type="title"/>
          </p:nvPr>
        </p:nvSpPr>
        <p:spPr>
          <a:xfrm>
            <a:off x="390598" y="1138675"/>
            <a:ext cx="3306007" cy="2665229"/>
          </a:xfrm>
          <a:prstGeom prst="rect">
            <a:avLst/>
          </a:prstGeom>
          <a:noFill/>
          <a:ln>
            <a:noFill/>
          </a:ln>
        </p:spPr>
        <p:txBody>
          <a:bodyPr spcFirstLastPara="1" wrap="square" lIns="91425" tIns="91425" rIns="91425" bIns="91425" anchor="t" anchorCtr="0">
            <a:noAutofit/>
          </a:bodyPr>
          <a:lstStyle/>
          <a:p>
            <a:r>
              <a:rPr lang="fr-FR" b="1" noProof="0" dirty="0"/>
              <a:t>Que motive les gens à participer dans des évènements de speed dating? </a:t>
            </a:r>
            <a:br>
              <a:rPr lang="fr-FR" b="1" noProof="0" dirty="0"/>
            </a:br>
            <a:br>
              <a:rPr lang="fr-FR" b="1" noProof="0" dirty="0"/>
            </a:br>
            <a:br>
              <a:rPr lang="fr-FR" noProof="0" dirty="0"/>
            </a:br>
            <a:br>
              <a:rPr lang="fr-FR" sz="2400" noProof="0" dirty="0"/>
            </a:br>
            <a:br>
              <a:rPr lang="fr-FR" sz="2400" noProof="0" dirty="0">
                <a:solidFill>
                  <a:srgbClr val="015955"/>
                </a:solidFill>
                <a:latin typeface="Inter"/>
                <a:ea typeface="Inter"/>
                <a:cs typeface="Inter"/>
                <a:sym typeface="Inter"/>
              </a:rPr>
            </a:br>
            <a:br>
              <a:rPr lang="fr-FR" sz="2400" noProof="0" dirty="0">
                <a:solidFill>
                  <a:srgbClr val="015955"/>
                </a:solidFill>
                <a:latin typeface="Inter"/>
                <a:ea typeface="Inter"/>
                <a:cs typeface="Inter"/>
                <a:sym typeface="Inter"/>
              </a:rPr>
            </a:br>
            <a:endParaRPr lang="fr-FR" sz="2400" noProof="0" dirty="0">
              <a:solidFill>
                <a:srgbClr val="015955"/>
              </a:solidFill>
              <a:latin typeface="Inter"/>
              <a:ea typeface="Inter"/>
              <a:cs typeface="Inter"/>
              <a:sym typeface="Inter"/>
            </a:endParaRPr>
          </a:p>
        </p:txBody>
      </p:sp>
      <p:pic>
        <p:nvPicPr>
          <p:cNvPr id="83" name="Google Shape;83;p16">
            <a:extLst>
              <a:ext uri="{FF2B5EF4-FFF2-40B4-BE49-F238E27FC236}">
                <a16:creationId xmlns:a16="http://schemas.microsoft.com/office/drawing/2014/main" id="{4688D159-34F9-DB30-5234-ABAEDF1B1472}"/>
              </a:ext>
            </a:extLst>
          </p:cNvPr>
          <p:cNvPicPr preferRelativeResize="0"/>
          <p:nvPr/>
        </p:nvPicPr>
        <p:blipFill rotWithShape="1">
          <a:blip r:embed="rId3">
            <a:alphaModFix/>
          </a:blip>
          <a:srcRect/>
          <a:stretch/>
        </p:blipFill>
        <p:spPr>
          <a:xfrm>
            <a:off x="463375" y="482852"/>
            <a:ext cx="576900" cy="385904"/>
          </a:xfrm>
          <a:prstGeom prst="rect">
            <a:avLst/>
          </a:prstGeom>
          <a:noFill/>
          <a:ln>
            <a:noFill/>
          </a:ln>
        </p:spPr>
      </p:pic>
      <p:sp>
        <p:nvSpPr>
          <p:cNvPr id="84" name="Google Shape;84;p16">
            <a:extLst>
              <a:ext uri="{FF2B5EF4-FFF2-40B4-BE49-F238E27FC236}">
                <a16:creationId xmlns:a16="http://schemas.microsoft.com/office/drawing/2014/main" id="{F1613291-D513-C70E-E696-C96D328D75E7}"/>
              </a:ext>
            </a:extLst>
          </p:cNvPr>
          <p:cNvSpPr txBox="1">
            <a:spLocks noGrp="1"/>
          </p:cNvSpPr>
          <p:nvPr>
            <p:ph type="ctrTitle" idx="4294967295"/>
          </p:nvPr>
        </p:nvSpPr>
        <p:spPr>
          <a:xfrm>
            <a:off x="3696605" y="362272"/>
            <a:ext cx="5315100" cy="4155483"/>
          </a:xfrm>
          <a:prstGeom prst="rect">
            <a:avLst/>
          </a:prstGeom>
          <a:noFill/>
          <a:ln>
            <a:noFill/>
          </a:ln>
        </p:spPr>
        <p:txBody>
          <a:bodyPr spcFirstLastPara="1" wrap="square" lIns="91425" tIns="91425" rIns="91425" bIns="91425" anchor="t" anchorCtr="0">
            <a:noAutofit/>
          </a:bodyPr>
          <a:lstStyle/>
          <a:p>
            <a:br>
              <a:rPr lang="en-US" sz="1400" dirty="0"/>
            </a:br>
            <a:br>
              <a:rPr lang="en-US" sz="1400" dirty="0"/>
            </a:br>
            <a:br>
              <a:rPr lang="en-US" dirty="0"/>
            </a:br>
            <a:br>
              <a:rPr lang="en-US" sz="1600" dirty="0"/>
            </a:br>
            <a:br>
              <a:rPr lang="en-US" dirty="0"/>
            </a:br>
            <a:br>
              <a:rPr lang="fr-FR" dirty="0"/>
            </a:br>
            <a:endParaRPr lang="en-US" sz="1600" dirty="0"/>
          </a:p>
        </p:txBody>
      </p:sp>
      <p:pic>
        <p:nvPicPr>
          <p:cNvPr id="13314" name="Picture 2">
            <a:extLst>
              <a:ext uri="{FF2B5EF4-FFF2-40B4-BE49-F238E27FC236}">
                <a16:creationId xmlns:a16="http://schemas.microsoft.com/office/drawing/2014/main" id="{A137FFB3-BFA9-CE7E-E483-BC4FFD50C2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3877" y="1399773"/>
            <a:ext cx="5200555" cy="2565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69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
          <a:extLst>
            <a:ext uri="{FF2B5EF4-FFF2-40B4-BE49-F238E27FC236}">
              <a16:creationId xmlns:a16="http://schemas.microsoft.com/office/drawing/2014/main" id="{828BC40B-D0F2-A0A8-5017-B3919F0E7454}"/>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7DD59D0D-E706-F3D4-96EE-5791E8D62C89}"/>
              </a:ext>
            </a:extLst>
          </p:cNvPr>
          <p:cNvSpPr/>
          <p:nvPr/>
        </p:nvSpPr>
        <p:spPr>
          <a:xfrm>
            <a:off x="5500" y="-17775"/>
            <a:ext cx="3691106"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361006F8-3981-775E-D8B4-FD71442B0BA3}"/>
              </a:ext>
            </a:extLst>
          </p:cNvPr>
          <p:cNvSpPr txBox="1">
            <a:spLocks noGrp="1"/>
          </p:cNvSpPr>
          <p:nvPr>
            <p:ph type="title"/>
          </p:nvPr>
        </p:nvSpPr>
        <p:spPr>
          <a:xfrm>
            <a:off x="249801" y="1151289"/>
            <a:ext cx="3306007" cy="2577447"/>
          </a:xfrm>
          <a:prstGeom prst="rect">
            <a:avLst/>
          </a:prstGeom>
          <a:noFill/>
          <a:ln>
            <a:noFill/>
          </a:ln>
        </p:spPr>
        <p:txBody>
          <a:bodyPr spcFirstLastPara="1" wrap="square" lIns="91425" tIns="91425" rIns="91425" bIns="91425" anchor="t" anchorCtr="0">
            <a:noAutofit/>
          </a:bodyPr>
          <a:lstStyle/>
          <a:p>
            <a:r>
              <a:rPr lang="fr-FR" b="1" noProof="0" dirty="0"/>
              <a:t>Quel facteur prédit un ‘match’ et qui obtient le plus des ‘matchs’? </a:t>
            </a:r>
            <a:br>
              <a:rPr lang="en-US" b="1" dirty="0"/>
            </a:br>
            <a:br>
              <a:rPr lang="en-US" b="1" dirty="0"/>
            </a:br>
            <a:br>
              <a:rPr lang="en-US" dirty="0"/>
            </a:br>
            <a:br>
              <a:rPr lang="en-US" sz="2400" dirty="0"/>
            </a:br>
            <a:br>
              <a:rPr lang="fr" sz="2400" dirty="0">
                <a:solidFill>
                  <a:srgbClr val="015955"/>
                </a:solidFill>
                <a:latin typeface="Inter"/>
                <a:ea typeface="Inter"/>
                <a:cs typeface="Inter"/>
                <a:sym typeface="Inter"/>
              </a:rPr>
            </a:br>
            <a:br>
              <a:rPr lang="fr" sz="2400" dirty="0">
                <a:solidFill>
                  <a:srgbClr val="015955"/>
                </a:solidFill>
                <a:latin typeface="Inter"/>
                <a:ea typeface="Inter"/>
                <a:cs typeface="Inter"/>
                <a:sym typeface="Inter"/>
              </a:rPr>
            </a:br>
            <a:endParaRPr sz="2400" dirty="0">
              <a:solidFill>
                <a:srgbClr val="015955"/>
              </a:solidFill>
              <a:latin typeface="Inter"/>
              <a:ea typeface="Inter"/>
              <a:cs typeface="Inter"/>
              <a:sym typeface="Inter"/>
            </a:endParaRPr>
          </a:p>
        </p:txBody>
      </p:sp>
      <p:pic>
        <p:nvPicPr>
          <p:cNvPr id="83" name="Google Shape;83;p16">
            <a:extLst>
              <a:ext uri="{FF2B5EF4-FFF2-40B4-BE49-F238E27FC236}">
                <a16:creationId xmlns:a16="http://schemas.microsoft.com/office/drawing/2014/main" id="{6B598D23-909F-F6DC-9DF9-E99AA6EED269}"/>
              </a:ext>
            </a:extLst>
          </p:cNvPr>
          <p:cNvPicPr preferRelativeResize="0"/>
          <p:nvPr/>
        </p:nvPicPr>
        <p:blipFill rotWithShape="1">
          <a:blip r:embed="rId3">
            <a:alphaModFix/>
          </a:blip>
          <a:srcRect/>
          <a:stretch/>
        </p:blipFill>
        <p:spPr>
          <a:xfrm>
            <a:off x="463375" y="482852"/>
            <a:ext cx="576900" cy="385904"/>
          </a:xfrm>
          <a:prstGeom prst="rect">
            <a:avLst/>
          </a:prstGeom>
          <a:noFill/>
          <a:ln>
            <a:noFill/>
          </a:ln>
        </p:spPr>
      </p:pic>
      <p:sp>
        <p:nvSpPr>
          <p:cNvPr id="84" name="Google Shape;84;p16">
            <a:extLst>
              <a:ext uri="{FF2B5EF4-FFF2-40B4-BE49-F238E27FC236}">
                <a16:creationId xmlns:a16="http://schemas.microsoft.com/office/drawing/2014/main" id="{8DB3B405-41E9-AFFA-A060-11D95E0A6402}"/>
              </a:ext>
            </a:extLst>
          </p:cNvPr>
          <p:cNvSpPr txBox="1">
            <a:spLocks noGrp="1"/>
          </p:cNvSpPr>
          <p:nvPr>
            <p:ph type="ctrTitle" idx="4294967295"/>
          </p:nvPr>
        </p:nvSpPr>
        <p:spPr>
          <a:xfrm>
            <a:off x="3696605" y="362272"/>
            <a:ext cx="5315100" cy="4155483"/>
          </a:xfrm>
          <a:prstGeom prst="rect">
            <a:avLst/>
          </a:prstGeom>
          <a:noFill/>
          <a:ln>
            <a:noFill/>
          </a:ln>
        </p:spPr>
        <p:txBody>
          <a:bodyPr spcFirstLastPara="1" wrap="square" lIns="91425" tIns="91425" rIns="91425" bIns="91425" anchor="t" anchorCtr="0">
            <a:noAutofit/>
          </a:bodyPr>
          <a:lstStyle/>
          <a:p>
            <a:br>
              <a:rPr lang="en-US" sz="1400" dirty="0"/>
            </a:br>
            <a:br>
              <a:rPr lang="en-US" sz="1400" dirty="0"/>
            </a:br>
            <a:br>
              <a:rPr lang="en-US" dirty="0"/>
            </a:br>
            <a:br>
              <a:rPr lang="en-US" sz="1600" dirty="0"/>
            </a:br>
            <a:br>
              <a:rPr lang="en-US" dirty="0"/>
            </a:br>
            <a:br>
              <a:rPr lang="fr-FR" dirty="0"/>
            </a:br>
            <a:endParaRPr lang="en-US" sz="1600" dirty="0"/>
          </a:p>
        </p:txBody>
      </p:sp>
      <p:sp>
        <p:nvSpPr>
          <p:cNvPr id="2" name="ZoneTexte 1">
            <a:extLst>
              <a:ext uri="{FF2B5EF4-FFF2-40B4-BE49-F238E27FC236}">
                <a16:creationId xmlns:a16="http://schemas.microsoft.com/office/drawing/2014/main" id="{4132AD3D-D3AC-0EF6-8E75-F2873AB8510D}"/>
              </a:ext>
            </a:extLst>
          </p:cNvPr>
          <p:cNvSpPr txBox="1"/>
          <p:nvPr/>
        </p:nvSpPr>
        <p:spPr>
          <a:xfrm>
            <a:off x="4101073" y="362272"/>
            <a:ext cx="4506163" cy="1815882"/>
          </a:xfrm>
          <a:prstGeom prst="rect">
            <a:avLst/>
          </a:prstGeom>
          <a:noFill/>
        </p:spPr>
        <p:txBody>
          <a:bodyPr wrap="square" rtlCol="0">
            <a:spAutoFit/>
          </a:bodyPr>
          <a:lstStyle/>
          <a:p>
            <a:r>
              <a:rPr lang="fr-FR" b="1" noProof="0" dirty="0"/>
              <a:t>Attractivité est importante, </a:t>
            </a:r>
            <a:r>
              <a:rPr lang="fr-FR" noProof="0" dirty="0"/>
              <a:t>mais pas autant qu’on aurait cru </a:t>
            </a:r>
          </a:p>
          <a:p>
            <a:r>
              <a:rPr lang="fr-FR" b="1" noProof="0" dirty="0"/>
              <a:t>Intérêts en commun </a:t>
            </a:r>
            <a:r>
              <a:rPr lang="fr-FR" noProof="0" dirty="0"/>
              <a:t>sont plus importants que les mêmes origines ethniques </a:t>
            </a:r>
          </a:p>
          <a:p>
            <a:r>
              <a:rPr lang="fr-FR" b="1" noProof="0" dirty="0"/>
              <a:t>Sincérité et intelligence</a:t>
            </a:r>
            <a:r>
              <a:rPr lang="fr-FR" noProof="0" dirty="0"/>
              <a:t> ont une importance majeure pour les femmes</a:t>
            </a:r>
          </a:p>
          <a:p>
            <a:r>
              <a:rPr lang="fr-FR" b="1" noProof="0" dirty="0"/>
              <a:t>Bonne humeur et confiance en soi </a:t>
            </a:r>
            <a:r>
              <a:rPr lang="fr-FR" noProof="0" dirty="0"/>
              <a:t>sont décisifs pour les hommes</a:t>
            </a:r>
          </a:p>
        </p:txBody>
      </p:sp>
      <p:pic>
        <p:nvPicPr>
          <p:cNvPr id="14338" name="Picture 2">
            <a:extLst>
              <a:ext uri="{FF2B5EF4-FFF2-40B4-BE49-F238E27FC236}">
                <a16:creationId xmlns:a16="http://schemas.microsoft.com/office/drawing/2014/main" id="{82A4933A-6CC4-C3F1-C64A-6D02523877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4637" y="2282342"/>
            <a:ext cx="4532201" cy="2235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430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
          <a:extLst>
            <a:ext uri="{FF2B5EF4-FFF2-40B4-BE49-F238E27FC236}">
              <a16:creationId xmlns:a16="http://schemas.microsoft.com/office/drawing/2014/main" id="{A8A5D7D1-F001-0176-41AE-652C7D7C9DFC}"/>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7FFC7DC1-B63D-89A9-0E71-7A081E9C4BD5}"/>
              </a:ext>
            </a:extLst>
          </p:cNvPr>
          <p:cNvSpPr/>
          <p:nvPr/>
        </p:nvSpPr>
        <p:spPr>
          <a:xfrm>
            <a:off x="5500" y="-17775"/>
            <a:ext cx="3691106"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AD11FFD6-8681-77E2-B818-342D4E50E44C}"/>
              </a:ext>
            </a:extLst>
          </p:cNvPr>
          <p:cNvSpPr txBox="1">
            <a:spLocks noGrp="1"/>
          </p:cNvSpPr>
          <p:nvPr>
            <p:ph type="title"/>
          </p:nvPr>
        </p:nvSpPr>
        <p:spPr>
          <a:xfrm>
            <a:off x="324761" y="1279305"/>
            <a:ext cx="3306007" cy="2321415"/>
          </a:xfrm>
          <a:prstGeom prst="rect">
            <a:avLst/>
          </a:prstGeom>
          <a:noFill/>
          <a:ln>
            <a:noFill/>
          </a:ln>
        </p:spPr>
        <p:txBody>
          <a:bodyPr spcFirstLastPara="1" wrap="square" lIns="91425" tIns="91425" rIns="91425" bIns="91425" anchor="t" anchorCtr="0">
            <a:noAutofit/>
          </a:bodyPr>
          <a:lstStyle/>
          <a:p>
            <a:r>
              <a:rPr lang="fr-FR" b="1" noProof="0" dirty="0"/>
              <a:t>Quelle qualité les gens déclarent comme la plus recherchée chez les partenaires?</a:t>
            </a:r>
            <a:br>
              <a:rPr lang="en-US" b="1" dirty="0"/>
            </a:br>
            <a:br>
              <a:rPr lang="en-US" dirty="0"/>
            </a:br>
            <a:br>
              <a:rPr lang="en-US" sz="2400" dirty="0"/>
            </a:br>
            <a:br>
              <a:rPr lang="fr" sz="2400" dirty="0">
                <a:solidFill>
                  <a:srgbClr val="015955"/>
                </a:solidFill>
                <a:latin typeface="Inter"/>
                <a:ea typeface="Inter"/>
                <a:cs typeface="Inter"/>
                <a:sym typeface="Inter"/>
              </a:rPr>
            </a:br>
            <a:br>
              <a:rPr lang="fr" sz="2400" dirty="0">
                <a:solidFill>
                  <a:srgbClr val="015955"/>
                </a:solidFill>
                <a:latin typeface="Inter"/>
                <a:ea typeface="Inter"/>
                <a:cs typeface="Inter"/>
                <a:sym typeface="Inter"/>
              </a:rPr>
            </a:br>
            <a:endParaRPr sz="2400" dirty="0">
              <a:solidFill>
                <a:srgbClr val="015955"/>
              </a:solidFill>
              <a:latin typeface="Inter"/>
              <a:ea typeface="Inter"/>
              <a:cs typeface="Inter"/>
              <a:sym typeface="Inter"/>
            </a:endParaRPr>
          </a:p>
        </p:txBody>
      </p:sp>
      <p:pic>
        <p:nvPicPr>
          <p:cNvPr id="83" name="Google Shape;83;p16">
            <a:extLst>
              <a:ext uri="{FF2B5EF4-FFF2-40B4-BE49-F238E27FC236}">
                <a16:creationId xmlns:a16="http://schemas.microsoft.com/office/drawing/2014/main" id="{60D7D562-0F34-DD17-FD35-4F73EEFBE3DB}"/>
              </a:ext>
            </a:extLst>
          </p:cNvPr>
          <p:cNvPicPr preferRelativeResize="0"/>
          <p:nvPr/>
        </p:nvPicPr>
        <p:blipFill rotWithShape="1">
          <a:blip r:embed="rId3">
            <a:alphaModFix/>
          </a:blip>
          <a:srcRect/>
          <a:stretch/>
        </p:blipFill>
        <p:spPr>
          <a:xfrm>
            <a:off x="463375" y="482852"/>
            <a:ext cx="576900" cy="385904"/>
          </a:xfrm>
          <a:prstGeom prst="rect">
            <a:avLst/>
          </a:prstGeom>
          <a:noFill/>
          <a:ln>
            <a:noFill/>
          </a:ln>
        </p:spPr>
      </p:pic>
      <p:sp>
        <p:nvSpPr>
          <p:cNvPr id="84" name="Google Shape;84;p16">
            <a:extLst>
              <a:ext uri="{FF2B5EF4-FFF2-40B4-BE49-F238E27FC236}">
                <a16:creationId xmlns:a16="http://schemas.microsoft.com/office/drawing/2014/main" id="{58063B08-1C2E-B674-6B5A-1F7A688B758A}"/>
              </a:ext>
            </a:extLst>
          </p:cNvPr>
          <p:cNvSpPr txBox="1">
            <a:spLocks noGrp="1"/>
          </p:cNvSpPr>
          <p:nvPr>
            <p:ph type="ctrTitle" idx="4294967295"/>
          </p:nvPr>
        </p:nvSpPr>
        <p:spPr>
          <a:xfrm>
            <a:off x="3696605" y="362272"/>
            <a:ext cx="5315100" cy="4155483"/>
          </a:xfrm>
          <a:prstGeom prst="rect">
            <a:avLst/>
          </a:prstGeom>
          <a:noFill/>
          <a:ln>
            <a:noFill/>
          </a:ln>
        </p:spPr>
        <p:txBody>
          <a:bodyPr spcFirstLastPara="1" wrap="square" lIns="91425" tIns="91425" rIns="91425" bIns="91425" anchor="t" anchorCtr="0">
            <a:noAutofit/>
          </a:bodyPr>
          <a:lstStyle/>
          <a:p>
            <a:br>
              <a:rPr lang="en-US" sz="1400" dirty="0"/>
            </a:br>
            <a:br>
              <a:rPr lang="en-US" sz="1400" dirty="0"/>
            </a:br>
            <a:br>
              <a:rPr lang="en-US" dirty="0"/>
            </a:br>
            <a:br>
              <a:rPr lang="en-US" sz="1600" dirty="0"/>
            </a:br>
            <a:br>
              <a:rPr lang="en-US" dirty="0"/>
            </a:br>
            <a:br>
              <a:rPr lang="fr-FR" dirty="0"/>
            </a:br>
            <a:endParaRPr lang="en-US" sz="1600" dirty="0"/>
          </a:p>
        </p:txBody>
      </p:sp>
      <p:sp>
        <p:nvSpPr>
          <p:cNvPr id="2" name="ZoneTexte 1">
            <a:extLst>
              <a:ext uri="{FF2B5EF4-FFF2-40B4-BE49-F238E27FC236}">
                <a16:creationId xmlns:a16="http://schemas.microsoft.com/office/drawing/2014/main" id="{894B8A60-8163-5317-9FC9-D7C659A9FCD4}"/>
              </a:ext>
            </a:extLst>
          </p:cNvPr>
          <p:cNvSpPr txBox="1"/>
          <p:nvPr/>
        </p:nvSpPr>
        <p:spPr>
          <a:xfrm>
            <a:off x="4030675" y="577901"/>
            <a:ext cx="4506163" cy="954107"/>
          </a:xfrm>
          <a:prstGeom prst="rect">
            <a:avLst/>
          </a:prstGeom>
          <a:noFill/>
        </p:spPr>
        <p:txBody>
          <a:bodyPr wrap="square" rtlCol="0">
            <a:spAutoFit/>
          </a:bodyPr>
          <a:lstStyle/>
          <a:p>
            <a:r>
              <a:rPr lang="fr-FR" b="1" dirty="0"/>
              <a:t>Hommes:</a:t>
            </a:r>
            <a:r>
              <a:rPr lang="fr-FR" dirty="0"/>
              <a:t> Attractivité → Intelligence → Bonne humeur </a:t>
            </a:r>
          </a:p>
          <a:p>
            <a:r>
              <a:rPr lang="fr-FR" b="1" dirty="0"/>
              <a:t>Femmes:</a:t>
            </a:r>
            <a:r>
              <a:rPr lang="fr-FR" dirty="0"/>
              <a:t> Intelligence → Sincérité → Attractivité</a:t>
            </a:r>
          </a:p>
          <a:p>
            <a:endParaRPr lang="fr-FR" dirty="0"/>
          </a:p>
          <a:p>
            <a:r>
              <a:rPr lang="fr-FR" dirty="0"/>
              <a:t>➡️ </a:t>
            </a:r>
            <a:r>
              <a:rPr lang="fr-FR" i="1" dirty="0"/>
              <a:t>Nette différence des préférences entre les genres</a:t>
            </a:r>
            <a:endParaRPr lang="fr-FR" dirty="0">
              <a:effectLst/>
            </a:endParaRPr>
          </a:p>
        </p:txBody>
      </p:sp>
      <p:pic>
        <p:nvPicPr>
          <p:cNvPr id="12292" name="Picture 4">
            <a:extLst>
              <a:ext uri="{FF2B5EF4-FFF2-40B4-BE49-F238E27FC236}">
                <a16:creationId xmlns:a16="http://schemas.microsoft.com/office/drawing/2014/main" id="{9D36323C-A99B-39EE-779E-959451BE76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8047" y="2106777"/>
            <a:ext cx="4712216" cy="2324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429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
          <a:extLst>
            <a:ext uri="{FF2B5EF4-FFF2-40B4-BE49-F238E27FC236}">
              <a16:creationId xmlns:a16="http://schemas.microsoft.com/office/drawing/2014/main" id="{CE43C3A8-E024-8607-C2FC-7A9A13A9186D}"/>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6D0D68DB-8C21-6287-2661-DE3682C66B04}"/>
              </a:ext>
            </a:extLst>
          </p:cNvPr>
          <p:cNvSpPr/>
          <p:nvPr/>
        </p:nvSpPr>
        <p:spPr>
          <a:xfrm>
            <a:off x="5499" y="-17775"/>
            <a:ext cx="3520625"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C537C441-8431-E426-0EBD-9CD05FC9DBF4}"/>
              </a:ext>
            </a:extLst>
          </p:cNvPr>
          <p:cNvSpPr txBox="1">
            <a:spLocks noGrp="1"/>
          </p:cNvSpPr>
          <p:nvPr>
            <p:ph type="title"/>
          </p:nvPr>
        </p:nvSpPr>
        <p:spPr>
          <a:xfrm>
            <a:off x="438808" y="967077"/>
            <a:ext cx="2988031" cy="3774288"/>
          </a:xfrm>
          <a:prstGeom prst="rect">
            <a:avLst/>
          </a:prstGeom>
          <a:noFill/>
          <a:ln>
            <a:noFill/>
          </a:ln>
        </p:spPr>
        <p:txBody>
          <a:bodyPr spcFirstLastPara="1" wrap="square" lIns="91425" tIns="91425" rIns="91425" bIns="91425" anchor="t" anchorCtr="0">
            <a:noAutofit/>
          </a:bodyPr>
          <a:lstStyle/>
          <a:p>
            <a:r>
              <a:rPr lang="fr-FR" b="1" dirty="0"/>
              <a:t>Biais humain</a:t>
            </a:r>
            <a:br>
              <a:rPr lang="fr-FR" b="1" dirty="0"/>
            </a:br>
            <a:br>
              <a:rPr lang="fr-FR" b="1" dirty="0"/>
            </a:br>
            <a:br>
              <a:rPr lang="en-US" dirty="0"/>
            </a:br>
            <a:br>
              <a:rPr lang="en-US" dirty="0"/>
            </a:br>
            <a:br>
              <a:rPr lang="en-US" dirty="0"/>
            </a:br>
            <a:br>
              <a:rPr lang="fr-FR" b="1" dirty="0"/>
            </a:br>
            <a:br>
              <a:rPr lang="fr" sz="2400" dirty="0">
                <a:solidFill>
                  <a:srgbClr val="015955"/>
                </a:solidFill>
                <a:latin typeface="Inter"/>
                <a:ea typeface="Inter"/>
                <a:cs typeface="Inter"/>
                <a:sym typeface="Inter"/>
              </a:rPr>
            </a:br>
            <a:br>
              <a:rPr lang="fr" sz="2400" dirty="0">
                <a:solidFill>
                  <a:srgbClr val="015955"/>
                </a:solidFill>
                <a:latin typeface="Inter"/>
                <a:ea typeface="Inter"/>
                <a:cs typeface="Inter"/>
                <a:sym typeface="Inter"/>
              </a:rPr>
            </a:br>
            <a:endParaRPr sz="2400" dirty="0">
              <a:solidFill>
                <a:srgbClr val="015955"/>
              </a:solidFill>
              <a:latin typeface="Inter"/>
              <a:ea typeface="Inter"/>
              <a:cs typeface="Inter"/>
              <a:sym typeface="Inter"/>
            </a:endParaRPr>
          </a:p>
        </p:txBody>
      </p:sp>
      <p:pic>
        <p:nvPicPr>
          <p:cNvPr id="83" name="Google Shape;83;p16">
            <a:extLst>
              <a:ext uri="{FF2B5EF4-FFF2-40B4-BE49-F238E27FC236}">
                <a16:creationId xmlns:a16="http://schemas.microsoft.com/office/drawing/2014/main" id="{2BC48FC5-5319-9C6D-2E6F-456B5FC827C5}"/>
              </a:ext>
            </a:extLst>
          </p:cNvPr>
          <p:cNvPicPr preferRelativeResize="0"/>
          <p:nvPr/>
        </p:nvPicPr>
        <p:blipFill rotWithShape="1">
          <a:blip r:embed="rId3">
            <a:alphaModFix/>
          </a:blip>
          <a:srcRect/>
          <a:stretch/>
        </p:blipFill>
        <p:spPr>
          <a:xfrm>
            <a:off x="463375" y="482852"/>
            <a:ext cx="576900" cy="385904"/>
          </a:xfrm>
          <a:prstGeom prst="rect">
            <a:avLst/>
          </a:prstGeom>
          <a:noFill/>
          <a:ln>
            <a:noFill/>
          </a:ln>
        </p:spPr>
      </p:pic>
      <p:sp>
        <p:nvSpPr>
          <p:cNvPr id="84" name="Google Shape;84;p16">
            <a:extLst>
              <a:ext uri="{FF2B5EF4-FFF2-40B4-BE49-F238E27FC236}">
                <a16:creationId xmlns:a16="http://schemas.microsoft.com/office/drawing/2014/main" id="{6EE85370-EE17-5699-C8B7-0827A399C7AD}"/>
              </a:ext>
            </a:extLst>
          </p:cNvPr>
          <p:cNvSpPr txBox="1">
            <a:spLocks noGrp="1"/>
          </p:cNvSpPr>
          <p:nvPr>
            <p:ph type="ctrTitle" idx="4294967295"/>
          </p:nvPr>
        </p:nvSpPr>
        <p:spPr>
          <a:xfrm>
            <a:off x="3588119" y="482852"/>
            <a:ext cx="5315100" cy="4593897"/>
          </a:xfrm>
          <a:prstGeom prst="rect">
            <a:avLst/>
          </a:prstGeom>
          <a:noFill/>
          <a:ln>
            <a:noFill/>
          </a:ln>
        </p:spPr>
        <p:txBody>
          <a:bodyPr spcFirstLastPara="1" wrap="square" lIns="91425" tIns="91425" rIns="91425" bIns="91425" anchor="t" anchorCtr="0">
            <a:noAutofit/>
          </a:bodyPr>
          <a:lstStyle/>
          <a:p>
            <a:r>
              <a:rPr lang="fr-FR" sz="1800" noProof="0" dirty="0"/>
              <a:t>Les deux genres </a:t>
            </a:r>
            <a:r>
              <a:rPr lang="fr-FR" sz="1800" b="1" noProof="0" dirty="0"/>
              <a:t>surestiment</a:t>
            </a:r>
            <a:r>
              <a:rPr lang="fr-FR" sz="1800" noProof="0" dirty="0"/>
              <a:t> leur attractivité, sens de l’humour et sincérité</a:t>
            </a:r>
            <a:br>
              <a:rPr lang="fr-FR" sz="1800" noProof="0" dirty="0"/>
            </a:br>
            <a:r>
              <a:rPr lang="fr-FR" sz="1800" noProof="0" dirty="0"/>
              <a:t>Les participants </a:t>
            </a:r>
            <a:r>
              <a:rPr lang="fr-FR" sz="1800" b="1" noProof="0" dirty="0"/>
              <a:t>jugent mal </a:t>
            </a:r>
            <a:r>
              <a:rPr lang="fr-FR" sz="1800" noProof="0" dirty="0"/>
              <a:t>ce qui compte pour le genre opposé</a:t>
            </a:r>
            <a:br>
              <a:rPr lang="fr-FR" sz="1800" noProof="0" dirty="0"/>
            </a:br>
            <a:r>
              <a:rPr lang="fr-FR" sz="1800" noProof="0" dirty="0"/>
              <a:t>Être le premier et le dernier dans la rotation n’a pas d’impact sur la chance d’obtenir un ‘date’</a:t>
            </a:r>
            <a:br>
              <a:rPr lang="fr-FR" sz="1800" noProof="0" dirty="0"/>
            </a:br>
            <a:br>
              <a:rPr lang="fr-FR" sz="1800" noProof="0" dirty="0"/>
            </a:br>
            <a:br>
              <a:rPr lang="fr-FR" sz="1800" noProof="0" dirty="0"/>
            </a:br>
            <a:br>
              <a:rPr lang="fr-FR" sz="1800" noProof="0" dirty="0"/>
            </a:br>
            <a:br>
              <a:rPr lang="fr-FR" sz="1600" noProof="0" dirty="0"/>
            </a:br>
            <a:br>
              <a:rPr lang="fr-FR" noProof="0" dirty="0"/>
            </a:br>
            <a:br>
              <a:rPr lang="fr-FR" sz="1600" noProof="0" dirty="0"/>
            </a:br>
            <a:br>
              <a:rPr lang="fr-FR" noProof="0" dirty="0"/>
            </a:br>
            <a:endParaRPr lang="fr-FR" sz="1600" noProof="0" dirty="0"/>
          </a:p>
        </p:txBody>
      </p:sp>
      <p:pic>
        <p:nvPicPr>
          <p:cNvPr id="1034" name="Picture 10">
            <a:extLst>
              <a:ext uri="{FF2B5EF4-FFF2-40B4-BE49-F238E27FC236}">
                <a16:creationId xmlns:a16="http://schemas.microsoft.com/office/drawing/2014/main" id="{1051C253-578C-E963-7C02-D67801B5D4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0148" y="2450592"/>
            <a:ext cx="2299172" cy="248808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EB517DB3-5635-9709-CB54-A2232573C2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497" y="2450592"/>
            <a:ext cx="2299172" cy="2488082"/>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descr="Mr. Feels - Parole d’honneur">
            <a:extLst>
              <a:ext uri="{FF2B5EF4-FFF2-40B4-BE49-F238E27FC236}">
                <a16:creationId xmlns:a16="http://schemas.microsoft.com/office/drawing/2014/main" id="{5AC948E6-D6DE-F085-97DE-53D55964DB65}"/>
              </a:ext>
            </a:extLst>
          </p:cNvPr>
          <p:cNvPicPr>
            <a:picLocks noChangeAspect="1"/>
          </p:cNvPicPr>
          <p:nvPr/>
        </p:nvPicPr>
        <p:blipFill>
          <a:blip r:embed="rId6"/>
          <a:stretch>
            <a:fillRect/>
          </a:stretch>
        </p:blipFill>
        <p:spPr>
          <a:xfrm>
            <a:off x="687629" y="2243774"/>
            <a:ext cx="1861107" cy="1861107"/>
          </a:xfrm>
          <a:prstGeom prst="rect">
            <a:avLst/>
          </a:prstGeom>
        </p:spPr>
      </p:pic>
    </p:spTree>
    <p:extLst>
      <p:ext uri="{BB962C8B-B14F-4D97-AF65-F5344CB8AC3E}">
        <p14:creationId xmlns:p14="http://schemas.microsoft.com/office/powerpoint/2010/main" val="4234565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
          <a:extLst>
            <a:ext uri="{FF2B5EF4-FFF2-40B4-BE49-F238E27FC236}">
              <a16:creationId xmlns:a16="http://schemas.microsoft.com/office/drawing/2014/main" id="{8F6F6F57-6AFE-BFED-9F01-DF1A78855BCA}"/>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1556290D-03E2-F98D-D5BD-E242604A9292}"/>
              </a:ext>
            </a:extLst>
          </p:cNvPr>
          <p:cNvSpPr/>
          <p:nvPr/>
        </p:nvSpPr>
        <p:spPr>
          <a:xfrm>
            <a:off x="5499" y="-17775"/>
            <a:ext cx="3520625"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E512E535-D198-2F88-2297-6469F668886D}"/>
              </a:ext>
            </a:extLst>
          </p:cNvPr>
          <p:cNvSpPr txBox="1">
            <a:spLocks noGrp="1"/>
          </p:cNvSpPr>
          <p:nvPr>
            <p:ph type="title"/>
          </p:nvPr>
        </p:nvSpPr>
        <p:spPr>
          <a:xfrm>
            <a:off x="463375" y="1493771"/>
            <a:ext cx="2988031" cy="1446939"/>
          </a:xfrm>
          <a:prstGeom prst="rect">
            <a:avLst/>
          </a:prstGeom>
          <a:noFill/>
          <a:ln>
            <a:noFill/>
          </a:ln>
        </p:spPr>
        <p:txBody>
          <a:bodyPr spcFirstLastPara="1" wrap="square" lIns="91425" tIns="91425" rIns="91425" bIns="91425" anchor="t" anchorCtr="0">
            <a:noAutofit/>
          </a:bodyPr>
          <a:lstStyle/>
          <a:p>
            <a:r>
              <a:rPr lang="fr-FR" b="1" dirty="0"/>
              <a:t>Key</a:t>
            </a:r>
            <a:br>
              <a:rPr lang="fr-FR" b="1" dirty="0"/>
            </a:br>
            <a:r>
              <a:rPr lang="fr-FR" b="1" dirty="0"/>
              <a:t>Conclusions</a:t>
            </a:r>
            <a:br>
              <a:rPr lang="fr-FR" b="1" dirty="0"/>
            </a:br>
            <a:br>
              <a:rPr lang="fr-FR" b="1" dirty="0"/>
            </a:br>
            <a:br>
              <a:rPr lang="fr-FR" b="1" dirty="0"/>
            </a:br>
            <a:r>
              <a:rPr lang="fr-FR" b="1" dirty="0"/>
              <a:t>	</a:t>
            </a:r>
            <a:br>
              <a:rPr lang="fr-FR" b="1" dirty="0"/>
            </a:br>
            <a:br>
              <a:rPr lang="en-US" dirty="0"/>
            </a:br>
            <a:br>
              <a:rPr lang="en-US" dirty="0"/>
            </a:br>
            <a:br>
              <a:rPr lang="fr-FR" b="1" dirty="0"/>
            </a:br>
            <a:br>
              <a:rPr lang="fr" sz="2400" dirty="0">
                <a:solidFill>
                  <a:srgbClr val="015955"/>
                </a:solidFill>
                <a:latin typeface="Inter"/>
                <a:ea typeface="Inter"/>
                <a:cs typeface="Inter"/>
                <a:sym typeface="Inter"/>
              </a:rPr>
            </a:br>
            <a:br>
              <a:rPr lang="fr" sz="2400" dirty="0">
                <a:solidFill>
                  <a:srgbClr val="015955"/>
                </a:solidFill>
                <a:latin typeface="Inter"/>
                <a:ea typeface="Inter"/>
                <a:cs typeface="Inter"/>
                <a:sym typeface="Inter"/>
              </a:rPr>
            </a:br>
            <a:endParaRPr sz="2400" dirty="0">
              <a:solidFill>
                <a:srgbClr val="015955"/>
              </a:solidFill>
              <a:latin typeface="Inter"/>
              <a:ea typeface="Inter"/>
              <a:cs typeface="Inter"/>
              <a:sym typeface="Inter"/>
            </a:endParaRPr>
          </a:p>
        </p:txBody>
      </p:sp>
      <p:pic>
        <p:nvPicPr>
          <p:cNvPr id="83" name="Google Shape;83;p16">
            <a:extLst>
              <a:ext uri="{FF2B5EF4-FFF2-40B4-BE49-F238E27FC236}">
                <a16:creationId xmlns:a16="http://schemas.microsoft.com/office/drawing/2014/main" id="{57B5629A-5A22-78B6-E492-80607E03AD6E}"/>
              </a:ext>
            </a:extLst>
          </p:cNvPr>
          <p:cNvPicPr preferRelativeResize="0"/>
          <p:nvPr/>
        </p:nvPicPr>
        <p:blipFill rotWithShape="1">
          <a:blip r:embed="rId3">
            <a:alphaModFix/>
          </a:blip>
          <a:srcRect/>
          <a:stretch/>
        </p:blipFill>
        <p:spPr>
          <a:xfrm>
            <a:off x="463375" y="482852"/>
            <a:ext cx="576900" cy="385904"/>
          </a:xfrm>
          <a:prstGeom prst="rect">
            <a:avLst/>
          </a:prstGeom>
          <a:noFill/>
          <a:ln>
            <a:noFill/>
          </a:ln>
        </p:spPr>
      </p:pic>
      <p:sp>
        <p:nvSpPr>
          <p:cNvPr id="84" name="Google Shape;84;p16">
            <a:extLst>
              <a:ext uri="{FF2B5EF4-FFF2-40B4-BE49-F238E27FC236}">
                <a16:creationId xmlns:a16="http://schemas.microsoft.com/office/drawing/2014/main" id="{7027E4CB-6B14-257E-99F2-16C5D49C3682}"/>
              </a:ext>
            </a:extLst>
          </p:cNvPr>
          <p:cNvSpPr txBox="1">
            <a:spLocks noGrp="1"/>
          </p:cNvSpPr>
          <p:nvPr>
            <p:ph type="ctrTitle" idx="4294967295"/>
          </p:nvPr>
        </p:nvSpPr>
        <p:spPr>
          <a:xfrm>
            <a:off x="3526124" y="579249"/>
            <a:ext cx="5315100" cy="4278044"/>
          </a:xfrm>
          <a:prstGeom prst="rect">
            <a:avLst/>
          </a:prstGeom>
          <a:noFill/>
          <a:ln>
            <a:noFill/>
          </a:ln>
        </p:spPr>
        <p:txBody>
          <a:bodyPr spcFirstLastPara="1" wrap="square" lIns="91425" tIns="91425" rIns="91425" bIns="91425" anchor="t" anchorCtr="0">
            <a:noAutofit/>
          </a:bodyPr>
          <a:lstStyle/>
          <a:p>
            <a:pPr lvl="0" eaLnBrk="0" fontAlgn="base" hangingPunct="0">
              <a:spcBef>
                <a:spcPct val="0"/>
              </a:spcBef>
              <a:spcAft>
                <a:spcPct val="0"/>
              </a:spcAft>
              <a:buClrTx/>
              <a:buSzTx/>
            </a:pPr>
            <a:r>
              <a:rPr lang="fr-FR" altLang="fr-FR" sz="2000" b="1" dirty="0">
                <a:solidFill>
                  <a:schemeClr val="tx1"/>
                </a:solidFill>
                <a:latin typeface="Arial" panose="020B0604020202020204" pitchFamily="34" charset="0"/>
              </a:rPr>
              <a:t>L’attraction est </a:t>
            </a:r>
            <a:r>
              <a:rPr lang="fr-FR" altLang="fr-FR" sz="2000" b="1" dirty="0" err="1">
                <a:solidFill>
                  <a:schemeClr val="tx1"/>
                </a:solidFill>
                <a:latin typeface="Arial" panose="020B0604020202020204" pitchFamily="34" charset="0"/>
              </a:rPr>
              <a:t>multidimensionelle</a:t>
            </a:r>
            <a:r>
              <a:rPr lang="fr-FR" altLang="fr-FR" sz="2000" b="1" dirty="0">
                <a:solidFill>
                  <a:schemeClr val="tx1"/>
                </a:solidFill>
                <a:latin typeface="Arial" panose="020B0604020202020204" pitchFamily="34" charset="0"/>
              </a:rPr>
              <a:t>: </a:t>
            </a:r>
            <a:br>
              <a:rPr lang="fr-FR" altLang="fr-FR" sz="2000" dirty="0">
                <a:solidFill>
                  <a:schemeClr val="tx1"/>
                </a:solidFill>
                <a:latin typeface="Arial" panose="020B0604020202020204" pitchFamily="34" charset="0"/>
              </a:rPr>
            </a:br>
            <a:r>
              <a:rPr lang="fr-FR" altLang="fr-FR" sz="2000" dirty="0">
                <a:solidFill>
                  <a:schemeClr val="tx1"/>
                </a:solidFill>
                <a:latin typeface="Arial" panose="020B0604020202020204" pitchFamily="34" charset="0"/>
              </a:rPr>
              <a:t>le look est important mais la personnalité et le fait d’avoir des intérêts communs le sont encore plus</a:t>
            </a:r>
            <a:br>
              <a:rPr lang="fr-FR" altLang="fr-FR" sz="2000" dirty="0">
                <a:solidFill>
                  <a:schemeClr val="tx1"/>
                </a:solidFill>
                <a:latin typeface="Arial" panose="020B0604020202020204" pitchFamily="34" charset="0"/>
              </a:rPr>
            </a:br>
            <a:br>
              <a:rPr lang="fr-FR" altLang="fr-FR" sz="2000" dirty="0">
                <a:solidFill>
                  <a:schemeClr val="tx1"/>
                </a:solidFill>
                <a:latin typeface="Arial" panose="020B0604020202020204" pitchFamily="34" charset="0"/>
              </a:rPr>
            </a:br>
            <a:r>
              <a:rPr lang="fr-FR" altLang="fr-FR" sz="2000" b="1" dirty="0">
                <a:solidFill>
                  <a:schemeClr val="tx1"/>
                </a:solidFill>
                <a:latin typeface="Arial" panose="020B0604020202020204" pitchFamily="34" charset="0"/>
              </a:rPr>
              <a:t>Les hommes et les femmes ont des préférences différentes</a:t>
            </a:r>
            <a:br>
              <a:rPr lang="fr-FR" altLang="fr-FR" sz="2000" dirty="0">
                <a:solidFill>
                  <a:schemeClr val="tx1"/>
                </a:solidFill>
                <a:latin typeface="Arial" panose="020B0604020202020204" pitchFamily="34" charset="0"/>
              </a:rPr>
            </a:br>
            <a:br>
              <a:rPr lang="fr-FR" altLang="fr-FR" sz="2000" dirty="0">
                <a:solidFill>
                  <a:schemeClr val="tx1"/>
                </a:solidFill>
                <a:latin typeface="Arial" panose="020B0604020202020204" pitchFamily="34" charset="0"/>
              </a:rPr>
            </a:br>
            <a:r>
              <a:rPr lang="fr-FR" altLang="fr-FR" sz="2000" b="1" dirty="0">
                <a:solidFill>
                  <a:schemeClr val="tx1"/>
                </a:solidFill>
                <a:latin typeface="Arial" panose="020B0604020202020204" pitchFamily="34" charset="0"/>
              </a:rPr>
              <a:t>Les participants se trompent </a:t>
            </a:r>
            <a:r>
              <a:rPr lang="fr-FR" altLang="fr-FR" sz="2000" dirty="0">
                <a:solidFill>
                  <a:schemeClr val="tx1"/>
                </a:solidFill>
                <a:latin typeface="Arial" panose="020B0604020202020204" pitchFamily="34" charset="0"/>
              </a:rPr>
              <a:t>en estimant leurs propres qualités ainsi que les préférences des autres</a:t>
            </a:r>
            <a:br>
              <a:rPr lang="fr-FR" altLang="fr-FR" sz="2000" dirty="0">
                <a:solidFill>
                  <a:schemeClr val="tx1"/>
                </a:solidFill>
                <a:latin typeface="Arial" panose="020B0604020202020204" pitchFamily="34" charset="0"/>
              </a:rPr>
            </a:br>
            <a:br>
              <a:rPr lang="fr-FR" altLang="fr-FR" sz="2000" dirty="0">
                <a:solidFill>
                  <a:schemeClr val="tx1"/>
                </a:solidFill>
                <a:latin typeface="Arial" panose="020B0604020202020204" pitchFamily="34" charset="0"/>
              </a:rPr>
            </a:br>
            <a:r>
              <a:rPr lang="fr-FR" altLang="fr-FR" sz="2000" b="1" dirty="0">
                <a:solidFill>
                  <a:schemeClr val="tx1"/>
                </a:solidFill>
                <a:latin typeface="Arial" panose="020B0604020202020204" pitchFamily="34" charset="0"/>
              </a:rPr>
              <a:t>Timing </a:t>
            </a:r>
            <a:r>
              <a:rPr lang="fr-FR" altLang="fr-FR" sz="2000" b="1" dirty="0" err="1">
                <a:solidFill>
                  <a:schemeClr val="tx1"/>
                </a:solidFill>
                <a:latin typeface="Arial" panose="020B0604020202020204" pitchFamily="34" charset="0"/>
              </a:rPr>
              <a:t>doesn’t</a:t>
            </a:r>
            <a:r>
              <a:rPr lang="fr-FR" altLang="fr-FR" sz="2000" b="1" dirty="0">
                <a:solidFill>
                  <a:schemeClr val="tx1"/>
                </a:solidFill>
                <a:latin typeface="Arial" panose="020B0604020202020204" pitchFamily="34" charset="0"/>
              </a:rPr>
              <a:t> </a:t>
            </a:r>
            <a:r>
              <a:rPr lang="fr-FR" altLang="fr-FR" sz="2000" b="1" dirty="0" err="1">
                <a:solidFill>
                  <a:schemeClr val="tx1"/>
                </a:solidFill>
                <a:latin typeface="Arial" panose="020B0604020202020204" pitchFamily="34" charset="0"/>
              </a:rPr>
              <a:t>matter</a:t>
            </a:r>
            <a:r>
              <a:rPr lang="fr-FR" altLang="fr-FR" sz="2000" b="1" dirty="0">
                <a:solidFill>
                  <a:schemeClr val="tx1"/>
                </a:solidFill>
                <a:latin typeface="Arial" panose="020B0604020202020204" pitchFamily="34" charset="0"/>
              </a:rPr>
              <a:t> — </a:t>
            </a:r>
            <a:r>
              <a:rPr lang="fr-FR" altLang="fr-FR" sz="2000" b="1" i="1" dirty="0" err="1">
                <a:solidFill>
                  <a:schemeClr val="tx1"/>
                </a:solidFill>
                <a:latin typeface="Arial" panose="020B0604020202020204" pitchFamily="34" charset="0"/>
              </a:rPr>
              <a:t>connection</a:t>
            </a:r>
            <a:r>
              <a:rPr lang="fr-FR" altLang="fr-FR" sz="2000" b="1" i="1" dirty="0">
                <a:solidFill>
                  <a:schemeClr val="tx1"/>
                </a:solidFill>
                <a:latin typeface="Arial" panose="020B0604020202020204" pitchFamily="34" charset="0"/>
              </a:rPr>
              <a:t> </a:t>
            </a:r>
            <a:r>
              <a:rPr lang="fr-FR" altLang="fr-FR" sz="2000" b="1" i="1" dirty="0" err="1">
                <a:solidFill>
                  <a:schemeClr val="tx1"/>
                </a:solidFill>
                <a:latin typeface="Arial" panose="020B0604020202020204" pitchFamily="34" charset="0"/>
              </a:rPr>
              <a:t>does</a:t>
            </a:r>
            <a:br>
              <a:rPr lang="fr-FR" altLang="fr-FR" sz="2000" b="1" i="1" dirty="0">
                <a:solidFill>
                  <a:schemeClr val="tx1"/>
                </a:solidFill>
                <a:latin typeface="Arial" panose="020B0604020202020204" pitchFamily="34" charset="0"/>
              </a:rPr>
            </a:br>
            <a:br>
              <a:rPr lang="fr-FR" altLang="fr-FR" sz="2000" b="1" i="1" dirty="0">
                <a:solidFill>
                  <a:schemeClr val="tx1"/>
                </a:solidFill>
                <a:latin typeface="Arial" panose="020B0604020202020204" pitchFamily="34" charset="0"/>
              </a:rPr>
            </a:br>
            <a:br>
              <a:rPr lang="fr-FR" altLang="fr-FR" sz="2000" dirty="0">
                <a:solidFill>
                  <a:schemeClr val="tx1"/>
                </a:solidFill>
                <a:latin typeface="Arial" panose="020B0604020202020204" pitchFamily="34" charset="0"/>
              </a:rPr>
            </a:br>
            <a:br>
              <a:rPr lang="en-US" dirty="0"/>
            </a:br>
            <a:br>
              <a:rPr lang="fr-FR" sz="1600" dirty="0"/>
            </a:br>
            <a:br>
              <a:rPr lang="fr-FR" dirty="0"/>
            </a:br>
            <a:endParaRPr lang="en-US" sz="1600" dirty="0"/>
          </a:p>
        </p:txBody>
      </p:sp>
      <p:sp>
        <p:nvSpPr>
          <p:cNvPr id="7" name="Rectangle 2">
            <a:extLst>
              <a:ext uri="{FF2B5EF4-FFF2-40B4-BE49-F238E27FC236}">
                <a16:creationId xmlns:a16="http://schemas.microsoft.com/office/drawing/2014/main" id="{52D41E17-1191-A2F4-8117-0614A87D8DF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3" name="Image 2" descr="M. Feels à cœur ouvert">
            <a:extLst>
              <a:ext uri="{FF2B5EF4-FFF2-40B4-BE49-F238E27FC236}">
                <a16:creationId xmlns:a16="http://schemas.microsoft.com/office/drawing/2014/main" id="{FDFB91A9-7F46-1607-A98C-E229DDBF52CA}"/>
              </a:ext>
            </a:extLst>
          </p:cNvPr>
          <p:cNvPicPr>
            <a:picLocks noChangeAspect="1"/>
          </p:cNvPicPr>
          <p:nvPr/>
        </p:nvPicPr>
        <p:blipFill>
          <a:blip r:embed="rId4"/>
          <a:stretch>
            <a:fillRect/>
          </a:stretch>
        </p:blipFill>
        <p:spPr>
          <a:xfrm>
            <a:off x="988761" y="2940710"/>
            <a:ext cx="1682344" cy="1682344"/>
          </a:xfrm>
          <a:prstGeom prst="rect">
            <a:avLst/>
          </a:prstGeom>
        </p:spPr>
      </p:pic>
    </p:spTree>
    <p:extLst>
      <p:ext uri="{BB962C8B-B14F-4D97-AF65-F5344CB8AC3E}">
        <p14:creationId xmlns:p14="http://schemas.microsoft.com/office/powerpoint/2010/main" val="3349117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5774"/>
        </a:solidFill>
        <a:effectLst/>
      </p:bgPr>
    </p:bg>
    <p:spTree>
      <p:nvGrpSpPr>
        <p:cNvPr id="1" name="Shape 102"/>
        <p:cNvGrpSpPr/>
        <p:nvPr/>
      </p:nvGrpSpPr>
      <p:grpSpPr>
        <a:xfrm>
          <a:off x="0" y="0"/>
          <a:ext cx="0" cy="0"/>
          <a:chOff x="0" y="0"/>
          <a:chExt cx="0" cy="0"/>
        </a:xfrm>
      </p:grpSpPr>
      <p:sp>
        <p:nvSpPr>
          <p:cNvPr id="103" name="Google Shape;103;p18"/>
          <p:cNvSpPr txBox="1">
            <a:spLocks noGrp="1"/>
          </p:cNvSpPr>
          <p:nvPr>
            <p:ph type="ctrTitle" idx="4294967295"/>
          </p:nvPr>
        </p:nvSpPr>
        <p:spPr>
          <a:xfrm>
            <a:off x="1354525" y="875630"/>
            <a:ext cx="6362700" cy="3188700"/>
          </a:xfrm>
          <a:prstGeom prst="rect">
            <a:avLst/>
          </a:prstGeom>
          <a:noFill/>
          <a:ln>
            <a:noFill/>
          </a:ln>
        </p:spPr>
        <p:txBody>
          <a:bodyPr spcFirstLastPara="1" wrap="square" lIns="91425" tIns="91425" rIns="91425" bIns="91425" anchor="ctr" anchorCtr="0">
            <a:noAutofit/>
          </a:bodyPr>
          <a:lstStyle/>
          <a:p>
            <a:pPr lvl="0" algn="ctr"/>
            <a:r>
              <a:rPr lang="fr-FR" sz="3200" b="0" i="0" u="none" strike="noStrike" cap="none" noProof="0" dirty="0">
                <a:solidFill>
                  <a:srgbClr val="FFFFFF"/>
                </a:solidFill>
                <a:latin typeface="Libre Baskerville"/>
                <a:ea typeface="Libre Baskerville"/>
                <a:cs typeface="Libre Baskerville"/>
                <a:sym typeface="Libre Baskerville"/>
              </a:rPr>
              <a:t>“</a:t>
            </a:r>
            <a:r>
              <a:rPr lang="fr-FR" noProof="0" dirty="0">
                <a:solidFill>
                  <a:schemeClr val="bg1"/>
                </a:solidFill>
              </a:rPr>
              <a:t>Nous, les humains, avons absolument besoin des autres pour rester humain.</a:t>
            </a:r>
            <a:r>
              <a:rPr lang="fr-FR" sz="3200" b="0" i="0" u="none" strike="noStrike" cap="none" noProof="0" dirty="0">
                <a:solidFill>
                  <a:srgbClr val="FFFFFF"/>
                </a:solidFill>
                <a:latin typeface="Libre Baskerville"/>
                <a:ea typeface="Libre Baskerville"/>
                <a:cs typeface="Libre Baskerville"/>
                <a:sym typeface="Libre Baskerville"/>
              </a:rPr>
              <a:t>”</a:t>
            </a:r>
          </a:p>
        </p:txBody>
      </p:sp>
      <p:sp>
        <p:nvSpPr>
          <p:cNvPr id="104" name="Google Shape;104;p18"/>
          <p:cNvSpPr txBox="1">
            <a:spLocks noGrp="1"/>
          </p:cNvSpPr>
          <p:nvPr>
            <p:ph type="ctrTitle" idx="4294967295"/>
          </p:nvPr>
        </p:nvSpPr>
        <p:spPr>
          <a:xfrm>
            <a:off x="463375" y="4530825"/>
            <a:ext cx="8145000" cy="329700"/>
          </a:xfrm>
          <a:prstGeom prst="rect">
            <a:avLst/>
          </a:prstGeom>
          <a:noFill/>
          <a:ln>
            <a:noFill/>
          </a:ln>
        </p:spPr>
        <p:txBody>
          <a:bodyPr spcFirstLastPara="1" wrap="square" lIns="91425" tIns="91425" rIns="91425" bIns="91425" anchor="t" anchorCtr="0">
            <a:noAutofit/>
          </a:bodyPr>
          <a:lstStyle/>
          <a:p>
            <a:pPr lvl="0" algn="ctr"/>
            <a:r>
              <a:rPr lang="fr-FR" sz="1800" dirty="0">
                <a:solidFill>
                  <a:schemeClr val="bg1"/>
                </a:solidFill>
              </a:rPr>
              <a:t>Terry </a:t>
            </a:r>
            <a:r>
              <a:rPr lang="fr-FR" sz="1800" dirty="0" err="1">
                <a:solidFill>
                  <a:schemeClr val="bg1"/>
                </a:solidFill>
              </a:rPr>
              <a:t>Pratchett</a:t>
            </a:r>
            <a:r>
              <a:rPr lang="fr-FR" sz="1800" dirty="0">
                <a:solidFill>
                  <a:schemeClr val="bg1"/>
                </a:solidFill>
              </a:rPr>
              <a:t>, romancier </a:t>
            </a:r>
            <a:r>
              <a:rPr lang="fr-FR" sz="1800" dirty="0" err="1">
                <a:solidFill>
                  <a:schemeClr val="bg1"/>
                </a:solidFill>
              </a:rPr>
              <a:t>brittanique</a:t>
            </a:r>
            <a:endParaRPr sz="1800" b="0" i="0" u="none" strike="noStrike" cap="none" dirty="0">
              <a:solidFill>
                <a:schemeClr val="bg1"/>
              </a:solidFill>
              <a:latin typeface="Inter"/>
              <a:ea typeface="Inter"/>
              <a:cs typeface="Inter"/>
              <a:sym typeface="Inter"/>
            </a:endParaRPr>
          </a:p>
        </p:txBody>
      </p:sp>
      <p:pic>
        <p:nvPicPr>
          <p:cNvPr id="105" name="Google Shape;105;p18"/>
          <p:cNvPicPr preferRelativeResize="0"/>
          <p:nvPr/>
        </p:nvPicPr>
        <p:blipFill rotWithShape="1">
          <a:blip r:embed="rId3">
            <a:alphaModFix/>
          </a:blip>
          <a:srcRect/>
          <a:stretch/>
        </p:blipFill>
        <p:spPr>
          <a:xfrm>
            <a:off x="463375" y="482850"/>
            <a:ext cx="576900" cy="3927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DBD0"/>
        </a:solidFill>
        <a:effectLst/>
      </p:bgPr>
    </p:bg>
    <p:spTree>
      <p:nvGrpSpPr>
        <p:cNvPr id="1" name="Shape 109"/>
        <p:cNvGrpSpPr/>
        <p:nvPr/>
      </p:nvGrpSpPr>
      <p:grpSpPr>
        <a:xfrm>
          <a:off x="0" y="0"/>
          <a:ext cx="0" cy="0"/>
          <a:chOff x="0" y="0"/>
          <a:chExt cx="0" cy="0"/>
        </a:xfrm>
      </p:grpSpPr>
      <p:sp>
        <p:nvSpPr>
          <p:cNvPr id="110" name="Google Shape;110;p19"/>
          <p:cNvSpPr txBox="1">
            <a:spLocks noGrp="1"/>
          </p:cNvSpPr>
          <p:nvPr>
            <p:ph type="ctrTitle" idx="4294967295"/>
          </p:nvPr>
        </p:nvSpPr>
        <p:spPr>
          <a:xfrm>
            <a:off x="1235600" y="1742168"/>
            <a:ext cx="53151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5600" b="1" dirty="0">
                <a:solidFill>
                  <a:srgbClr val="0E3449"/>
                </a:solidFill>
                <a:latin typeface="Inter"/>
                <a:ea typeface="Inter"/>
                <a:cs typeface="Inter"/>
                <a:sym typeface="Inter"/>
              </a:rPr>
              <a:t>Merci! </a:t>
            </a:r>
            <a:endParaRPr sz="5600" b="1" dirty="0">
              <a:solidFill>
                <a:srgbClr val="0E3449"/>
              </a:solidFill>
              <a:latin typeface="Inter"/>
              <a:ea typeface="Inter"/>
              <a:cs typeface="Inter"/>
              <a:sym typeface="Inter"/>
            </a:endParaRPr>
          </a:p>
        </p:txBody>
      </p:sp>
      <p:pic>
        <p:nvPicPr>
          <p:cNvPr id="111" name="Google Shape;111;p19"/>
          <p:cNvPicPr preferRelativeResize="0"/>
          <p:nvPr/>
        </p:nvPicPr>
        <p:blipFill>
          <a:blip r:embed="rId3">
            <a:alphaModFix/>
          </a:blip>
          <a:stretch>
            <a:fillRect/>
          </a:stretch>
        </p:blipFill>
        <p:spPr>
          <a:xfrm>
            <a:off x="3918625" y="3006625"/>
            <a:ext cx="4599299" cy="2136876"/>
          </a:xfrm>
          <a:prstGeom prst="rect">
            <a:avLst/>
          </a:prstGeom>
          <a:noFill/>
          <a:ln>
            <a:noFill/>
          </a:ln>
        </p:spPr>
      </p:pic>
      <p:sp>
        <p:nvSpPr>
          <p:cNvPr id="112" name="Google Shape;112;p19"/>
          <p:cNvSpPr txBox="1">
            <a:spLocks noGrp="1"/>
          </p:cNvSpPr>
          <p:nvPr>
            <p:ph type="ctrTitle" idx="4294967295"/>
          </p:nvPr>
        </p:nvSpPr>
        <p:spPr>
          <a:xfrm>
            <a:off x="1274764" y="2606043"/>
            <a:ext cx="53151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2400">
                <a:solidFill>
                  <a:srgbClr val="0E3449"/>
                </a:solidFill>
                <a:latin typeface="Inter Medium"/>
                <a:ea typeface="Inter Medium"/>
                <a:cs typeface="Inter Medium"/>
                <a:sym typeface="Inter Medium"/>
              </a:rPr>
              <a:t>Avez-vous des questions </a:t>
            </a:r>
            <a:r>
              <a:rPr lang="fr" sz="2400" dirty="0">
                <a:solidFill>
                  <a:srgbClr val="0E3449"/>
                </a:solidFill>
                <a:latin typeface="Inter Medium"/>
                <a:ea typeface="Inter Medium"/>
                <a:cs typeface="Inter Medium"/>
                <a:sym typeface="Inter Medium"/>
              </a:rPr>
              <a:t>?</a:t>
            </a:r>
            <a:endParaRPr sz="2400" dirty="0">
              <a:solidFill>
                <a:srgbClr val="0E3449"/>
              </a:solidFill>
              <a:latin typeface="Inter Medium"/>
              <a:ea typeface="Inter Medium"/>
              <a:cs typeface="Inter Medium"/>
              <a:sym typeface="Inter Medium"/>
            </a:endParaRPr>
          </a:p>
        </p:txBody>
      </p:sp>
      <p:pic>
        <p:nvPicPr>
          <p:cNvPr id="113" name="Google Shape;113;p19"/>
          <p:cNvPicPr preferRelativeResize="0"/>
          <p:nvPr/>
        </p:nvPicPr>
        <p:blipFill>
          <a:blip r:embed="rId4">
            <a:alphaModFix/>
          </a:blip>
          <a:stretch>
            <a:fillRect/>
          </a:stretch>
        </p:blipFill>
        <p:spPr>
          <a:xfrm>
            <a:off x="463375" y="482852"/>
            <a:ext cx="576900" cy="38590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19383</TotalTime>
  <Words>509</Words>
  <Application>Microsoft Office PowerPoint</Application>
  <PresentationFormat>Affichage à l'écran (16:9)</PresentationFormat>
  <Paragraphs>32</Paragraphs>
  <Slides>12</Slides>
  <Notes>12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12</vt:i4>
      </vt:variant>
    </vt:vector>
  </HeadingPairs>
  <TitlesOfParts>
    <vt:vector size="18" baseType="lpstr">
      <vt:lpstr>Inter SemiBold</vt:lpstr>
      <vt:lpstr>Inter Medium</vt:lpstr>
      <vt:lpstr>Arial</vt:lpstr>
      <vt:lpstr>Inter</vt:lpstr>
      <vt:lpstr>Libre Baskerville</vt:lpstr>
      <vt:lpstr>Simple Light</vt:lpstr>
      <vt:lpstr> Concepteur développeur en science des données  Machine Learning Engineer</vt:lpstr>
      <vt:lpstr>Project TINDER   Analyse exploratoire, descriptive et inférentielle de données  Lien vers le dépôt Github: https://github.com/AgaHei/Speed_Dating_EDA      </vt:lpstr>
      <vt:lpstr>Objectif du projet</vt:lpstr>
      <vt:lpstr>Comprendre et traiter les données       </vt:lpstr>
      <vt:lpstr>Qui sont les participants?  </vt:lpstr>
      <vt:lpstr>Que motive les gens à participer dans des évènements de speed dating?       </vt:lpstr>
      <vt:lpstr>Quel facteur prédit un ‘match’ et qui obtient le plus des ‘matchs’?       </vt:lpstr>
      <vt:lpstr>Quelle qualité les gens déclarent comme la plus recherchée chez les partenaires?     </vt:lpstr>
      <vt:lpstr>Biais humain        </vt:lpstr>
      <vt:lpstr>Key Conclusions          </vt:lpstr>
      <vt:lpstr>“Nous, les humains, avons absolument besoin des autres pour rester humain.”</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Agnieszka Heijligers</dc:creator>
  <cp:lastModifiedBy>Agnieszka Heijligers</cp:lastModifiedBy>
  <cp:revision>25</cp:revision>
  <dcterms:modified xsi:type="dcterms:W3CDTF">2026-01-09T09:10:03Z</dcterms:modified>
</cp:coreProperties>
</file>